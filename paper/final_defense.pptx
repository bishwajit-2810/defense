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3">
  <p:sldMasterIdLst>
    <p:sldMasterId id="2147483659" r:id="rId1"/>
  </p:sldMasterIdLst>
  <p:notesMasterIdLst>
    <p:notesMasterId r:id="rId1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6"/>
    <p:sldId id="268" r:id="rId5"/>
    <p:sldId id="269" r:id="rId4"/>
    <p:sldId id="270" r:id="rId3"/>
    <p:sldId id="271" r:id="rId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215968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>
      <p:cViewPr varScale="1">
        <p:scale>
          <a:sx n="84" d="100"/>
          <a:sy n="84" d="100"/>
        </p:scale>
        <p:origin x="648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Percent of posts routed</c:v>
                </c:pt>
              </c:strCache>
            </c:strRef>
          </c:tx>
          <c:spPr>
            <a:solidFill>
              <a:srgbClr val="4F81BD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Keyword-stub
Stage 1</c:v>
                </c:pt>
                <c:pt idx="1">
                  <c:v>LLM Stage 1
(as shipped)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74</c:v>
                </c:pt>
                <c:pt idx="1">
                  <c:v>16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300" b="1">
                  <a:solidFill>
                    <a:srgbClr val="1F497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8E8"/>
            </a:solidFill>
          </a:ln>
        </c:spPr>
        <c:txPr>
          <a:bodyPr/>
          <a:lstStyle/>
          <a:p>
            <a:pPr>
              <a:defRPr sz="1050">
                <a:solidFill>
                  <a:srgbClr val="3F3F3F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solidFill>
            <a:srgbClr val="3F3F3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Keyword-stub Stage 1</c:v>
                </c:pt>
              </c:strCache>
            </c:strRef>
          </c:tx>
          <c:spPr>
            <a:solidFill>
              <a:srgbClr val="9DC3E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Post-level</c:v>
                </c:pt>
                <c:pt idx="1">
                  <c:v>Stage-1 comment
labelling</c:v>
                </c:pt>
                <c:pt idx="2">
                  <c:v>Stage-2 comment
stance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124</c:v>
                </c:pt>
                <c:pt idx="1">
                  <c:v>368</c:v>
                </c:pt>
                <c:pt idx="2">
                  <c:v>321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LLM Stage 1 (shipped)</c:v>
                </c:pt>
              </c:strCache>
            </c:strRef>
          </c:tx>
          <c:spPr>
            <a:solidFill>
              <a:srgbClr val="1F497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Post-level</c:v>
                </c:pt>
                <c:pt idx="1">
                  <c:v>Stage-1 comment
labelling</c:v>
                </c:pt>
                <c:pt idx="2">
                  <c:v>Stage-2 comment
stance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</c:v>
                </c:pt>
                <c:pt idx="1">
                  <c:v>368</c:v>
                </c:pt>
                <c:pt idx="2">
                  <c:v>139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 b="1">
                  <a:solidFill>
                    <a:srgbClr val="1F497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1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8E8"/>
            </a:solidFill>
          </a:ln>
        </c:spPr>
        <c:txPr>
          <a:bodyPr/>
          <a:lstStyle/>
          <a:p>
            <a:pPr>
              <a:defRPr sz="1050">
                <a:solidFill>
                  <a:srgbClr val="3F3F3F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2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50"/>
          </a:pPr>
        </a:p>
      </c:txPr>
    </c:legend>
    <c:dispBlanksAs val="gap"/>
  </c:chart>
  <c:txPr>
    <a:bodyPr/>
    <a:lstStyle/>
    <a:p>
      <a:pPr>
        <a:defRPr sz="1050">
          <a:solidFill>
            <a:srgbClr val="3F3F3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Hash-stub vectors</c:v>
                </c:pt>
              </c:strCache>
            </c:strRef>
          </c:tx>
          <c:spPr>
            <a:solidFill>
              <a:srgbClr val="9DC3E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vector</c:v>
                </c:pt>
                <c:pt idx="1">
                  <c:v>lexical</c:v>
                </c:pt>
                <c:pt idx="2">
                  <c:v>hybrid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0.1875</c:v>
                </c:pt>
                <c:pt idx="1">
                  <c:v>0.375</c:v>
                </c:pt>
                <c:pt idx="2">
                  <c:v>0.5312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embeddings</c:v>
                </c:pt>
              </c:strCache>
            </c:strRef>
          </c:tx>
          <c:spPr>
            <a:solidFill>
              <a:srgbClr val="1F497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vector</c:v>
                </c:pt>
                <c:pt idx="1">
                  <c:v>lexical</c:v>
                </c:pt>
                <c:pt idx="2">
                  <c:v>hybrid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0.625</c:v>
                </c:pt>
                <c:pt idx="1">
                  <c:v>0.75</c:v>
                </c:pt>
                <c:pt idx="2">
                  <c:v>0.875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950" b="1">
                  <a:solidFill>
                    <a:srgbClr val="1F497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1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8E8"/>
            </a:solidFill>
          </a:ln>
        </c:spPr>
        <c:txPr>
          <a:bodyPr/>
          <a:lstStyle/>
          <a:p>
            <a:pPr>
              <a:defRPr sz="1050">
                <a:solidFill>
                  <a:srgbClr val="3F3F3F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50"/>
          </a:pPr>
        </a:p>
      </c:txPr>
    </c:legend>
    <c:dispBlanksAs val="gap"/>
  </c:chart>
  <c:txPr>
    <a:bodyPr/>
    <a:lstStyle/>
    <a:p>
      <a:pPr>
        <a:defRPr sz="1050">
          <a:solidFill>
            <a:srgbClr val="3F3F3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lexical</c:v>
                </c:pt>
              </c:strCache>
            </c:strRef>
          </c:tx>
          <c:spPr>
            <a:solidFill>
              <a:srgbClr val="9DC3E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overlap ≥ 0.5
(n = 12)</c:v>
                </c:pt>
                <c:pt idx="1">
                  <c:v>overlap &lt; 0.5
(n = 20)</c:v>
                </c:pt>
                <c:pt idx="2">
                  <c:v>overlap = 0
(n = 8)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0.6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vector (dense)</c:v>
                </c:pt>
              </c:strCache>
            </c:strRef>
          </c:tx>
          <c:spPr>
            <a:solidFill>
              <a:srgbClr val="31869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overlap ≥ 0.5
(n = 12)</c:v>
                </c:pt>
                <c:pt idx="1">
                  <c:v>overlap &lt; 0.5
(n = 20)</c:v>
                </c:pt>
                <c:pt idx="2">
                  <c:v>overlap = 0
(n = 8)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0.583</c:v>
                </c:pt>
                <c:pt idx="1">
                  <c:v>0.65</c:v>
                </c:pt>
                <c:pt idx="2">
                  <c:v>0.5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chunked (fused)</c:v>
                </c:pt>
              </c:strCache>
            </c:strRef>
          </c:tx>
          <c:spPr>
            <a:solidFill>
              <a:srgbClr val="1F497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overlap ≥ 0.5
(n = 12)</c:v>
                </c:pt>
                <c:pt idx="1">
                  <c:v>overlap &lt; 0.5
(n = 20)</c:v>
                </c:pt>
                <c:pt idx="2">
                  <c:v>overlap = 0
(n = 8)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1.0</c:v>
                </c:pt>
                <c:pt idx="1">
                  <c:v>0.8</c:v>
                </c:pt>
                <c:pt idx="2">
                  <c:v>0.5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900" b="1">
                  <a:solidFill>
                    <a:srgbClr val="1F497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1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8E8"/>
            </a:solidFill>
          </a:ln>
        </c:spPr>
        <c:txPr>
          <a:bodyPr/>
          <a:lstStyle/>
          <a:p>
            <a:pPr>
              <a:defRPr sz="1050">
                <a:solidFill>
                  <a:srgbClr val="3F3F3F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50"/>
          </a:pPr>
        </a:p>
      </c:txPr>
    </c:legend>
    <c:dispBlanksAs val="gap"/>
  </c:chart>
  <c:txPr>
    <a:bodyPr/>
    <a:lstStyle/>
    <a:p>
      <a:pPr>
        <a:defRPr sz="1050">
          <a:solidFill>
            <a:srgbClr val="3F3F3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F497D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9DC3E6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Model or LLM output  (2,953)</c:v>
                </c:pt>
                <c:pt idx="1">
                  <c:v>Deterministic stub or emoji-lexicon rule  (7,319)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2953</c:v>
                </c:pt>
                <c:pt idx="1">
                  <c:v>7319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50" b="1">
                  <a:solidFill>
                    <a:srgbClr val="202020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3F3F3F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50">
          <a:latin typeface="Calibri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F497D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4F81BD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31869B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9DC3E6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Bangla script only — 81.4 %</c:v>
                </c:pt>
                <c:pt idx="1">
                  <c:v>Latin script only — 11.1 %</c:v>
                </c:pt>
                <c:pt idx="2">
                  <c:v>Both scripts, code-mixed — 4.6 %</c:v>
                </c:pt>
                <c:pt idx="3">
                  <c:v>Neither, emoji or symbols — 2.9 %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8357</c:v>
                </c:pt>
                <c:pt idx="1">
                  <c:v>1143</c:v>
                </c:pt>
                <c:pt idx="2">
                  <c:v>473</c:v>
                </c:pt>
                <c:pt idx="3">
                  <c:v>299</c:v>
                </c:pt>
              </c:numCache>
            </c:numRef>
          </c:val>
        </c:ser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3F3F3F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50"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0F2D6876-F133-46D3-95E2-A34AD9BDC8CB}" type="datetimeFigureOut">
              <a:rPr lang="en-US"/>
              <a:pPr>
                <a:defRPr/>
              </a:pPr>
              <a:t>1/4/2026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A40400-4F5E-4E00-9BB5-F457594CE77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6421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609600" y="1676400"/>
            <a:ext cx="10972800" cy="3962400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</a:schemeClr>
                </a:solidFill>
              </a:defRPr>
            </a:lvl1pPr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chemeClr val="accent2">
                    <a:lumMod val="75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75000"/>
                  </a:schemeClr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7AD9AE-DAF0-4070-950A-9E3660EBE497}" type="datetime1">
              <a:rPr lang="en-US" smtClean="0"/>
              <a:pPr>
                <a:defRPr/>
              </a:pPr>
              <a:t>1/4/2026</a:t>
            </a:fld>
            <a:endParaRPr lang="en-US"/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1" name="Picture 1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609600" y="6356351"/>
            <a:ext cx="1538817" cy="471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Rectangle 11"/>
          <p:cNvSpPr/>
          <p:nvPr userDrawn="1"/>
        </p:nvSpPr>
        <p:spPr>
          <a:xfrm>
            <a:off x="2336801" y="6356351"/>
            <a:ext cx="9842500" cy="465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1" dirty="0"/>
              <a:t>B.Sc. Final-Defense</a:t>
            </a:r>
            <a:endParaRPr lang="en-US" b="1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0" y="0"/>
            <a:ext cx="12192000" cy="228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2636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3759200" y="0"/>
            <a:ext cx="8432800" cy="6858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b="1" dirty="0"/>
              <a:t>B.Sc. Final-Defense</a:t>
            </a:r>
            <a:endParaRPr lang="en-US" b="1" dirty="0"/>
          </a:p>
        </p:txBody>
      </p:sp>
      <p:pic>
        <p:nvPicPr>
          <p:cNvPr id="6" name="Picture 1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146051" y="76200"/>
            <a:ext cx="2444749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 userDrawn="1"/>
        </p:nvSpPr>
        <p:spPr>
          <a:xfrm>
            <a:off x="3555999" y="3271960"/>
            <a:ext cx="5080000" cy="533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1" dirty="0"/>
              <a:t>Presented by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43000"/>
            <a:ext cx="10363200" cy="1752600"/>
          </a:xfrm>
        </p:spPr>
        <p:txBody>
          <a:bodyPr/>
          <a:lstStyle>
            <a:lvl1pPr>
              <a:defRPr b="1">
                <a:solidFill>
                  <a:schemeClr val="tx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Times New Roman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02707" y="3959471"/>
            <a:ext cx="5986585" cy="2209800"/>
          </a:xfrm>
        </p:spPr>
        <p:txBody>
          <a:bodyPr>
            <a:normAutofit/>
          </a:bodyPr>
          <a:lstStyle>
            <a:lvl1pPr marL="0" indent="0" algn="ctr">
              <a:buNone/>
              <a:defRPr sz="27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C254C3-6D07-4044-A98A-C7B9FCC216AA}" type="datetime1">
              <a:rPr lang="en-US"/>
              <a:pPr>
                <a:defRPr/>
              </a:pPr>
              <a:t>1/4/2026</a:t>
            </a:fld>
            <a:endParaRPr lang="en-US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62AF6E4-9F0F-4D32-8D8E-755B2E69BA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304801" y="5943600"/>
            <a:ext cx="1538817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 userDrawn="1"/>
        </p:nvSpPr>
        <p:spPr>
          <a:xfrm>
            <a:off x="2336801" y="5943600"/>
            <a:ext cx="98425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1" dirty="0"/>
              <a:t>B.Sc. Final-Defense</a:t>
            </a:r>
            <a:endParaRPr lang="en-US" b="1" dirty="0"/>
          </a:p>
        </p:txBody>
      </p:sp>
      <p:sp>
        <p:nvSpPr>
          <p:cNvPr id="6" name="Rectangle 5"/>
          <p:cNvSpPr/>
          <p:nvPr userDrawn="1"/>
        </p:nvSpPr>
        <p:spPr>
          <a:xfrm>
            <a:off x="0" y="0"/>
            <a:ext cx="12192000" cy="228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609600" y="1676400"/>
            <a:ext cx="10972800" cy="3962400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</a:schemeClr>
                </a:solidFill>
              </a:defRPr>
            </a:lvl1pPr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chemeClr val="accent2">
                    <a:lumMod val="75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75000"/>
                  </a:schemeClr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7AD9AE-DAF0-4070-950A-9E3660EBE497}" type="datetime1">
              <a:rPr lang="en-US"/>
              <a:pPr>
                <a:defRPr/>
              </a:pPr>
              <a:t>1/4/2026</a:t>
            </a:fld>
            <a:endParaRPr lang="en-US"/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58" r:id="rId14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932688"/>
            <a:ext cx="10817352" cy="1874519"/>
          </a:xfrm>
        </p:spPr>
        <p:txBody>
          <a:bodyPr wrap="square" lIns="0" rIns="0" anchor="ctr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4000" i="0" b="1">
                <a:solidFill>
                  <a:srgbClr val="1F497D"/>
                </a:solidFill>
                <a:latin typeface="Calibri"/>
              </a:rPr>
              <a:t>Selective Intelligence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i="0" b="0">
                <a:solidFill>
                  <a:srgbClr val="215968"/>
                </a:solidFill>
                <a:latin typeface="Calibri"/>
              </a:rPr>
              <a:t>Cost Aware Hybrid NLP LLM with Watchlist Driven Agentic RAG for Bangla Social Media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99816" y="3895344"/>
            <a:ext cx="5989320" cy="1188720"/>
          </a:xfrm>
        </p:spPr>
        <p:txBody>
          <a:bodyPr wrap="square" lIns="0" rIns="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900" i="0" b="1">
                <a:solidFill>
                  <a:srgbClr val="000000"/>
                </a:solidFill>
                <a:latin typeface="Times New Roman"/>
              </a:rPr>
              <a:t>Bishwajit Kumar Chakraborty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i="0" b="0">
                <a:solidFill>
                  <a:srgbClr val="3F3F3F"/>
                </a:solidFill>
                <a:latin typeface="Times New Roman"/>
              </a:rPr>
              <a:t>ID : 0242220005101414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i="0" b="0">
                <a:solidFill>
                  <a:srgbClr val="3F3F3F"/>
                </a:solidFill>
                <a:latin typeface="Times New Roman"/>
              </a:rPr>
              <a:t>Department of CSE  ·  Daffodil International University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17320" y="5138928"/>
            <a:ext cx="4617720" cy="877824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2296" bIns="8229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i="0" b="1">
                <a:solidFill>
                  <a:srgbClr val="4F81BD"/>
                </a:solidFill>
                <a:latin typeface="Calibri"/>
              </a:rPr>
              <a:t>SUPERVISED BY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50" i="0" b="1">
                <a:solidFill>
                  <a:srgbClr val="1F497D"/>
                </a:solidFill>
                <a:latin typeface="Calibri"/>
              </a:rPr>
              <a:t>Dr. Sheak Rashed Haider Noori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3F3F3F"/>
                </a:solidFill>
                <a:latin typeface="Calibri"/>
              </a:rPr>
              <a:t>Professor &amp; Head, Department of CSE, DIU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5138928"/>
            <a:ext cx="4617720" cy="877824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2296" bIns="8229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i="0" b="1">
                <a:solidFill>
                  <a:srgbClr val="31869B"/>
                </a:solidFill>
                <a:latin typeface="Calibri"/>
              </a:rPr>
              <a:t>CO-SUPERVISED BY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50" i="0" b="1">
                <a:solidFill>
                  <a:srgbClr val="1F497D"/>
                </a:solidFill>
                <a:latin typeface="Calibri"/>
              </a:rPr>
              <a:t>Dr. Md Alamgir Kabir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3F3F3F"/>
                </a:solidFill>
                <a:latin typeface="Calibri"/>
              </a:rPr>
              <a:t>Assistant Professor, Department of CSE,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88950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i="0" b="0">
                <a:solidFill>
                  <a:srgbClr val="76808C"/>
                </a:solidFill>
                <a:latin typeface="Calibri"/>
              </a:rPr>
              <a:t>B.Sc. in Computer Science and Engineering  ·  Final Defense  ·  August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12191695" cy="6858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126480"/>
            <a:ext cx="110550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76808C"/>
                </a:solidFill>
                <a:latin typeface="Calibri"/>
              </a:rPr>
              <a:t>Department of Computer Science and Engineering  ·  Faculty of Science and Information Technology  ·  Dhaka, Bangladesh</a:t>
            </a:r>
          </a:p>
        </p:txBody>
      </p:sp>
      <p:sp>
        <p:nvSpPr>
          <p:cNvPr id="901" name="Slide Number Placeholder 5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E62AF6E4-9F0F-4D32-8D8E-755B2E69BA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Outline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Roadmap</a:t>
            </a:r>
          </a:p>
        </p:txBody>
      </p:sp>
      <p:sp>
        <p:nvSpPr>
          <p:cNvPr id="902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03" name="Rounded Rectangle 902"/>
          <p:cNvSpPr/>
          <p:nvPr/>
        </p:nvSpPr>
        <p:spPr>
          <a:xfrm>
            <a:off x="566928" y="1207008"/>
            <a:ext cx="5413248" cy="65836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4" name="Rounded Rectangle 903"/>
          <p:cNvSpPr/>
          <p:nvPr/>
        </p:nvSpPr>
        <p:spPr>
          <a:xfrm>
            <a:off x="649224" y="1289304"/>
            <a:ext cx="493776" cy="493776"/>
          </a:xfrm>
          <a:prstGeom prst="roundRect">
            <a:avLst>
              <a:gd name="adj" fmla="val 15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i="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1261872" y="1298448"/>
            <a:ext cx="45902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Introduction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76808C"/>
                </a:solidFill>
                <a:latin typeface="Calibri"/>
              </a:rPr>
              <a:t>the text, the platform, the bill</a:t>
            </a:r>
          </a:p>
        </p:txBody>
      </p:sp>
      <p:sp>
        <p:nvSpPr>
          <p:cNvPr id="906" name="Rounded Rectangle 905"/>
          <p:cNvSpPr/>
          <p:nvPr/>
        </p:nvSpPr>
        <p:spPr>
          <a:xfrm>
            <a:off x="6208776" y="1207008"/>
            <a:ext cx="5413248" cy="65836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7" name="Rounded Rectangle 906"/>
          <p:cNvSpPr/>
          <p:nvPr/>
        </p:nvSpPr>
        <p:spPr>
          <a:xfrm>
            <a:off x="6291072" y="1289304"/>
            <a:ext cx="493776" cy="493776"/>
          </a:xfrm>
          <a:prstGeom prst="roundRect">
            <a:avLst>
              <a:gd name="adj" fmla="val 15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i="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6903720" y="1298448"/>
            <a:ext cx="45902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Motivation &amp; Problem Statement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76808C"/>
                </a:solidFill>
                <a:latin typeface="Calibri"/>
              </a:rPr>
              <a:t>a cost asymmetry worth designing for</a:t>
            </a:r>
          </a:p>
        </p:txBody>
      </p:sp>
      <p:sp>
        <p:nvSpPr>
          <p:cNvPr id="909" name="Rounded Rectangle 908"/>
          <p:cNvSpPr/>
          <p:nvPr/>
        </p:nvSpPr>
        <p:spPr>
          <a:xfrm>
            <a:off x="566928" y="1970532"/>
            <a:ext cx="5413248" cy="658368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0" name="Rounded Rectangle 909"/>
          <p:cNvSpPr/>
          <p:nvPr/>
        </p:nvSpPr>
        <p:spPr>
          <a:xfrm>
            <a:off x="649224" y="2052828"/>
            <a:ext cx="493776" cy="493776"/>
          </a:xfrm>
          <a:prstGeom prst="roundRect">
            <a:avLst>
              <a:gd name="adj" fmla="val 15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i="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1261872" y="2061972"/>
            <a:ext cx="45902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Objectives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76808C"/>
                </a:solidFill>
                <a:latin typeface="Calibri"/>
              </a:rPr>
              <a:t>O1 – O4, each checkable against the running system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6208776" y="1970532"/>
            <a:ext cx="5413248" cy="658368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3" name="Rounded Rectangle 912"/>
          <p:cNvSpPr/>
          <p:nvPr/>
        </p:nvSpPr>
        <p:spPr>
          <a:xfrm>
            <a:off x="6291072" y="2052828"/>
            <a:ext cx="493776" cy="493776"/>
          </a:xfrm>
          <a:prstGeom prst="roundRect">
            <a:avLst>
              <a:gd name="adj" fmla="val 15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i="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6903720" y="2061972"/>
            <a:ext cx="45902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Background Study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76808C"/>
                </a:solidFill>
                <a:latin typeface="Calibri"/>
              </a:rPr>
              <a:t>Bangla &amp; code-mixed NLP, cascades, RAG, agents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566928" y="2734056"/>
            <a:ext cx="5413248" cy="65836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6" name="Rounded Rectangle 915"/>
          <p:cNvSpPr/>
          <p:nvPr/>
        </p:nvSpPr>
        <p:spPr>
          <a:xfrm>
            <a:off x="649224" y="2816352"/>
            <a:ext cx="493776" cy="493776"/>
          </a:xfrm>
          <a:prstGeom prst="roundRect">
            <a:avLst>
              <a:gd name="adj" fmla="val 15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i="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1261872" y="2825496"/>
            <a:ext cx="45902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Gap Analysis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76808C"/>
                </a:solidFill>
                <a:latin typeface="Calibri"/>
              </a:rPr>
              <a:t>four gaps, four objectives, one for one</a:t>
            </a:r>
          </a:p>
        </p:txBody>
      </p:sp>
      <p:sp>
        <p:nvSpPr>
          <p:cNvPr id="918" name="Rounded Rectangle 917"/>
          <p:cNvSpPr/>
          <p:nvPr/>
        </p:nvSpPr>
        <p:spPr>
          <a:xfrm>
            <a:off x="6208776" y="2734056"/>
            <a:ext cx="5413248" cy="65836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9" name="Rounded Rectangle 918"/>
          <p:cNvSpPr/>
          <p:nvPr/>
        </p:nvSpPr>
        <p:spPr>
          <a:xfrm>
            <a:off x="6291072" y="2816352"/>
            <a:ext cx="493776" cy="493776"/>
          </a:xfrm>
          <a:prstGeom prst="roundRect">
            <a:avLst>
              <a:gd name="adj" fmla="val 15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i="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6903720" y="2825496"/>
            <a:ext cx="45902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Research Methodology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76808C"/>
                </a:solidFill>
                <a:latin typeface="Calibri"/>
              </a:rPr>
              <a:t>five stages, six gates, eight labellers</a:t>
            </a:r>
          </a:p>
        </p:txBody>
      </p:sp>
      <p:sp>
        <p:nvSpPr>
          <p:cNvPr id="921" name="Rounded Rectangle 920"/>
          <p:cNvSpPr/>
          <p:nvPr/>
        </p:nvSpPr>
        <p:spPr>
          <a:xfrm>
            <a:off x="566928" y="3497580"/>
            <a:ext cx="5413248" cy="658368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2" name="Rounded Rectangle 921"/>
          <p:cNvSpPr/>
          <p:nvPr/>
        </p:nvSpPr>
        <p:spPr>
          <a:xfrm>
            <a:off x="649224" y="3579876"/>
            <a:ext cx="493776" cy="493776"/>
          </a:xfrm>
          <a:prstGeom prst="roundRect">
            <a:avLst>
              <a:gd name="adj" fmla="val 15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i="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1261872" y="3589020"/>
            <a:ext cx="45902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Results &amp; Analysis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76808C"/>
                </a:solidFill>
                <a:latin typeface="Calibri"/>
              </a:rPr>
              <a:t>routing, cost split, retrieval, provenance</a:t>
            </a:r>
          </a:p>
        </p:txBody>
      </p:sp>
      <p:sp>
        <p:nvSpPr>
          <p:cNvPr id="924" name="Rounded Rectangle 923"/>
          <p:cNvSpPr/>
          <p:nvPr/>
        </p:nvSpPr>
        <p:spPr>
          <a:xfrm>
            <a:off x="6208776" y="3497580"/>
            <a:ext cx="5413248" cy="658368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5" name="Rounded Rectangle 924"/>
          <p:cNvSpPr/>
          <p:nvPr/>
        </p:nvSpPr>
        <p:spPr>
          <a:xfrm>
            <a:off x="6291072" y="3579876"/>
            <a:ext cx="493776" cy="493776"/>
          </a:xfrm>
          <a:prstGeom prst="roundRect">
            <a:avLst>
              <a:gd name="adj" fmla="val 15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i="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6903720" y="3589020"/>
            <a:ext cx="45902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Novelty of the Work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76808C"/>
                </a:solidFill>
                <a:latin typeface="Calibri"/>
              </a:rPr>
              <a:t>what is new, and what measurement disconfirmed</a:t>
            </a:r>
          </a:p>
        </p:txBody>
      </p:sp>
      <p:sp>
        <p:nvSpPr>
          <p:cNvPr id="927" name="Rounded Rectangle 926"/>
          <p:cNvSpPr/>
          <p:nvPr/>
        </p:nvSpPr>
        <p:spPr>
          <a:xfrm>
            <a:off x="566928" y="4261104"/>
            <a:ext cx="5413248" cy="65836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8" name="Rounded Rectangle 927"/>
          <p:cNvSpPr/>
          <p:nvPr/>
        </p:nvSpPr>
        <p:spPr>
          <a:xfrm>
            <a:off x="649224" y="4343400"/>
            <a:ext cx="493776" cy="493776"/>
          </a:xfrm>
          <a:prstGeom prst="roundRect">
            <a:avLst>
              <a:gd name="adj" fmla="val 15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i="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1261872" y="4352544"/>
            <a:ext cx="45902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Sample Dataset &amp; Expected Output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76808C"/>
                </a:solidFill>
                <a:latin typeface="Calibri"/>
              </a:rPr>
              <a:t>50 posts, 10,272 comments, one JSON</a:t>
            </a:r>
          </a:p>
        </p:txBody>
      </p:sp>
      <p:sp>
        <p:nvSpPr>
          <p:cNvPr id="930" name="Rounded Rectangle 929"/>
          <p:cNvSpPr/>
          <p:nvPr/>
        </p:nvSpPr>
        <p:spPr>
          <a:xfrm>
            <a:off x="6208776" y="4261104"/>
            <a:ext cx="5413248" cy="65836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1" name="Rounded Rectangle 930"/>
          <p:cNvSpPr/>
          <p:nvPr/>
        </p:nvSpPr>
        <p:spPr>
          <a:xfrm>
            <a:off x="6291072" y="4343400"/>
            <a:ext cx="493776" cy="493776"/>
          </a:xfrm>
          <a:prstGeom prst="roundRect">
            <a:avLst>
              <a:gd name="adj" fmla="val 15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i="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6903720" y="4352544"/>
            <a:ext cx="45902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Web Interface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76808C"/>
                </a:solidFill>
                <a:latin typeface="Calibri"/>
              </a:rPr>
              <a:t>eleven tabs over a 51-path API</a:t>
            </a:r>
          </a:p>
        </p:txBody>
      </p:sp>
      <p:sp>
        <p:nvSpPr>
          <p:cNvPr id="933" name="Rounded Rectangle 932"/>
          <p:cNvSpPr/>
          <p:nvPr/>
        </p:nvSpPr>
        <p:spPr>
          <a:xfrm>
            <a:off x="566928" y="5024628"/>
            <a:ext cx="5413248" cy="658368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4" name="Rounded Rectangle 933"/>
          <p:cNvSpPr/>
          <p:nvPr/>
        </p:nvSpPr>
        <p:spPr>
          <a:xfrm>
            <a:off x="649224" y="5106924"/>
            <a:ext cx="493776" cy="493776"/>
          </a:xfrm>
          <a:prstGeom prst="roundRect">
            <a:avLst>
              <a:gd name="adj" fmla="val 15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i="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1261872" y="5116068"/>
            <a:ext cx="45902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Demonstration Video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76808C"/>
                </a:solidFill>
                <a:latin typeface="Calibri"/>
              </a:rPr>
              <a:t>the system running end to end</a:t>
            </a:r>
          </a:p>
        </p:txBody>
      </p:sp>
      <p:sp>
        <p:nvSpPr>
          <p:cNvPr id="936" name="Rounded Rectangle 935"/>
          <p:cNvSpPr/>
          <p:nvPr/>
        </p:nvSpPr>
        <p:spPr>
          <a:xfrm>
            <a:off x="6208776" y="5024628"/>
            <a:ext cx="5413248" cy="658368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7" name="Rounded Rectangle 936"/>
          <p:cNvSpPr/>
          <p:nvPr/>
        </p:nvSpPr>
        <p:spPr>
          <a:xfrm>
            <a:off x="6291072" y="5106924"/>
            <a:ext cx="493776" cy="493776"/>
          </a:xfrm>
          <a:prstGeom prst="roundRect">
            <a:avLst>
              <a:gd name="adj" fmla="val 15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i="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6903720" y="5116068"/>
            <a:ext cx="45902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Conclusion, Limitations &amp; References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76808C"/>
                </a:solidFill>
                <a:latin typeface="Calibri"/>
              </a:rPr>
              <a:t>what is claimed, and where it stops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1</a:t>
            </a:r>
          </a:p>
        </p:txBody>
      </p:sp>
      <p:sp>
        <p:nvSpPr>
          <p:cNvPr id="903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04" name="Rounded Rectangle 903"/>
          <p:cNvSpPr/>
          <p:nvPr/>
        </p:nvSpPr>
        <p:spPr>
          <a:xfrm>
            <a:off x="566928" y="1170432"/>
            <a:ext cx="3538728" cy="239572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The text is not one language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150" i="0" b="0">
                <a:solidFill>
                  <a:srgbClr val="3F3F3F"/>
                </a:solidFill>
                <a:latin typeface="Calibri"/>
              </a:rPr>
              <a:t>Bangla script, English and romanized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Banglish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mix inside single comments, with no standard orthography.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150" i="0" b="0">
                <a:solidFill>
                  <a:srgbClr val="3F3F3F"/>
                </a:solidFill>
                <a:latin typeface="Calibri"/>
              </a:rPr>
              <a:t>Measured over 10,272 comments: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81.4 %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Bangla script only,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11.1 %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Latin only,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4.6 %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both,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2.9 %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neither (pure emoji).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150" i="0" b="0">
                <a:solidFill>
                  <a:srgbClr val="3F3F3F"/>
                </a:solidFill>
                <a:latin typeface="Calibri"/>
              </a:rPr>
              <a:t>One comment in six is where a Bangla-only and an English-only model each read the wrong language.</a:t>
            </a:r>
          </a:p>
        </p:txBody>
      </p:sp>
      <p:sp>
        <p:nvSpPr>
          <p:cNvPr id="905" name="Rectangle 904"/>
          <p:cNvSpPr/>
          <p:nvPr/>
        </p:nvSpPr>
        <p:spPr>
          <a:xfrm>
            <a:off x="566928" y="1220724"/>
            <a:ext cx="68580" cy="229514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6" name="Rounded Rectangle 905"/>
          <p:cNvSpPr/>
          <p:nvPr/>
        </p:nvSpPr>
        <p:spPr>
          <a:xfrm>
            <a:off x="4325112" y="1170432"/>
            <a:ext cx="3538728" cy="239572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The upstream platform does not understand it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1869B"/>
              </a:buClr>
              <a:buFont typeface="Arial"/>
              <a:buChar char="▪"/>
            </a:pPr>
            <a:r>
              <a:rPr sz="1150" i="0" b="0">
                <a:solidFill>
                  <a:srgbClr val="3F3F3F"/>
                </a:solidFill>
                <a:latin typeface="Calibri"/>
              </a:rPr>
              <a:t>It scrapes reliably and keys records by stable identifiers — then stores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one coarse sentiment per post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1869B"/>
              </a:buClr>
              <a:buFont typeface="Arial"/>
              <a:buChar char="▪"/>
            </a:pPr>
            <a:r>
              <a:rPr sz="1150" i="0" b="0">
                <a:solidFill>
                  <a:srgbClr val="3F3F3F"/>
                </a:solidFill>
                <a:latin typeface="Calibri"/>
              </a:rPr>
              <a:t>Per-comment sentiment is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null on all 10,272 comments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; no OCR; no embeddings.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1869B"/>
              </a:buClr>
              <a:buFont typeface="Arial"/>
              <a:buChar char="▪"/>
            </a:pPr>
            <a:r>
              <a:rPr sz="1150" i="0" b="0">
                <a:solidFill>
                  <a:srgbClr val="3F3F3F"/>
                </a:solidFill>
                <a:latin typeface="Calibri"/>
              </a:rPr>
              <a:t>It is a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data source, not an analysis layer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— which is the gap this microservice fills.</a:t>
            </a:r>
          </a:p>
        </p:txBody>
      </p:sp>
      <p:sp>
        <p:nvSpPr>
          <p:cNvPr id="907" name="Rectangle 906"/>
          <p:cNvSpPr/>
          <p:nvPr/>
        </p:nvSpPr>
        <p:spPr>
          <a:xfrm>
            <a:off x="4325112" y="1220724"/>
            <a:ext cx="68580" cy="2295144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8" name="Rounded Rectangle 907"/>
          <p:cNvSpPr/>
          <p:nvPr/>
        </p:nvSpPr>
        <p:spPr>
          <a:xfrm>
            <a:off x="8083296" y="1170432"/>
            <a:ext cx="3538728" cy="239572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Both obvious answers fail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150" i="0" b="1">
                <a:solidFill>
                  <a:srgbClr val="3F3F3F"/>
                </a:solidFill>
                <a:latin typeface="Calibri"/>
              </a:rPr>
              <a:t>Send everything to an LLM: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accurate, unaffordable — cost scales with comments, not posts, and one viral thread here carries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2,857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comments.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150" i="0" b="1">
                <a:solidFill>
                  <a:srgbClr val="3F3F3F"/>
                </a:solidFill>
                <a:latin typeface="Calibri"/>
              </a:rPr>
              <a:t>Run only cheap classifiers: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affordable, and demonstrably weaker on exactly the code-mixed register that dominates the traffic.</a:t>
            </a:r>
          </a:p>
        </p:txBody>
      </p:sp>
      <p:sp>
        <p:nvSpPr>
          <p:cNvPr id="909" name="Rectangle 908"/>
          <p:cNvSpPr/>
          <p:nvPr/>
        </p:nvSpPr>
        <p:spPr>
          <a:xfrm>
            <a:off x="8083296" y="1220724"/>
            <a:ext cx="68580" cy="229514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0" name="Rounded Rectangle 909"/>
          <p:cNvSpPr/>
          <p:nvPr/>
        </p:nvSpPr>
        <p:spPr>
          <a:xfrm>
            <a:off x="566928" y="3749039"/>
            <a:ext cx="11055096" cy="1005840"/>
          </a:xfrm>
          <a:prstGeom prst="roundRect">
            <a:avLst>
              <a:gd name="adj" fmla="val 4500"/>
            </a:avLst>
          </a:prstGeom>
          <a:solidFill>
            <a:srgbClr val="153054"/>
          </a:solidFill>
          <a:ln w="9525">
            <a:solidFill>
              <a:srgbClr val="1530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i="0" b="1">
                <a:solidFill>
                  <a:srgbClr val="9DC3E6"/>
                </a:solidFill>
                <a:latin typeface="Calibri"/>
              </a:rPr>
              <a:t>PROBLEM STATEMENT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 b="0">
                <a:solidFill>
                  <a:srgbClr val="FFFFFF"/>
                </a:solidFill>
                <a:latin typeface="Calibri"/>
              </a:rPr>
              <a:t>Given a post together with its embedded comment thread, decide </a:t>
            </a:r>
            <a:r>
              <a:rPr sz="1300" i="0" b="1">
                <a:solidFill>
                  <a:srgbClr val="FFFFFF"/>
                </a:solidFill>
                <a:latin typeface="Calibri"/>
              </a:rPr>
              <a:t>per unit of work</a:t>
            </a:r>
            <a:r>
              <a:rPr sz="1300" i="0" b="0">
                <a:solidFill>
                  <a:srgbClr val="FFFFFF"/>
                </a:solidFill>
                <a:latin typeface="Calibri"/>
              </a:rPr>
              <a:t> how much intelligence that unit deserves, spend the expensive model only where cheap models cannot answer, and prove afterwards — from the system's own counters — where the money went and what produced every label.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566928" y="4956048"/>
            <a:ext cx="2615184" cy="786384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2296" bIns="8229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2200" i="0" b="1">
                <a:solidFill>
                  <a:srgbClr val="FFFFFF"/>
                </a:solidFill>
                <a:latin typeface="Calibri"/>
              </a:rPr>
              <a:t>50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D6E4F2"/>
                </a:solidFill>
                <a:latin typeface="Calibri"/>
              </a:rPr>
              <a:t>posts · 25 campaigns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3360420" y="4956048"/>
            <a:ext cx="2615184" cy="786384"/>
          </a:xfrm>
          <a:prstGeom prst="roundRect">
            <a:avLst>
              <a:gd name="adj" fmla="val 4500"/>
            </a:avLst>
          </a:prstGeom>
          <a:solidFill>
            <a:srgbClr val="215968"/>
          </a:solidFill>
          <a:ln w="9525">
            <a:solidFill>
              <a:srgbClr val="2159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2296" bIns="8229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2200" i="0" b="1">
                <a:solidFill>
                  <a:srgbClr val="FFFFFF"/>
                </a:solidFill>
                <a:latin typeface="Calibri"/>
              </a:rPr>
              <a:t>10,272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D6E4F2"/>
                </a:solidFill>
                <a:latin typeface="Calibri"/>
              </a:rPr>
              <a:t>comments analysed</a:t>
            </a:r>
          </a:p>
        </p:txBody>
      </p:sp>
      <p:sp>
        <p:nvSpPr>
          <p:cNvPr id="913" name="Rounded Rectangle 912"/>
          <p:cNvSpPr/>
          <p:nvPr/>
        </p:nvSpPr>
        <p:spPr>
          <a:xfrm>
            <a:off x="6153912" y="4956048"/>
            <a:ext cx="2615184" cy="786384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2296" bIns="8229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2200" i="0" b="1">
                <a:solidFill>
                  <a:srgbClr val="FFFFFF"/>
                </a:solidFill>
                <a:latin typeface="Calibri"/>
              </a:rPr>
              <a:t>3.75 %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D6E4F2"/>
                </a:solidFill>
                <a:latin typeface="Calibri"/>
              </a:rPr>
              <a:t>of comments the platform holds</a:t>
            </a:r>
          </a:p>
        </p:txBody>
      </p:sp>
      <p:sp>
        <p:nvSpPr>
          <p:cNvPr id="914" name="Rounded Rectangle 913"/>
          <p:cNvSpPr/>
          <p:nvPr/>
        </p:nvSpPr>
        <p:spPr>
          <a:xfrm>
            <a:off x="8947404" y="4956048"/>
            <a:ext cx="2615184" cy="786384"/>
          </a:xfrm>
          <a:prstGeom prst="roundRect">
            <a:avLst>
              <a:gd name="adj" fmla="val 4500"/>
            </a:avLst>
          </a:prstGeom>
          <a:solidFill>
            <a:srgbClr val="215968"/>
          </a:solidFill>
          <a:ln w="9525">
            <a:solidFill>
              <a:srgbClr val="2159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2296" bIns="8229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2200" i="0" b="1">
                <a:solidFill>
                  <a:srgbClr val="FFFFFF"/>
                </a:solidFill>
                <a:latin typeface="Calibri"/>
              </a:rPr>
              <a:t>0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D6E4F2"/>
                </a:solidFill>
                <a:latin typeface="Calibri"/>
              </a:rPr>
              <a:t>comments labelled upstream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Motivation: a cost asymmetry worth designing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1</a:t>
            </a:r>
          </a:p>
        </p:txBody>
      </p:sp>
      <p:sp>
        <p:nvSpPr>
          <p:cNvPr id="904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05" name="Rounded Rectangle 904"/>
          <p:cNvSpPr/>
          <p:nvPr/>
        </p:nvSpPr>
        <p:spPr>
          <a:xfrm>
            <a:off x="566928" y="1170432"/>
            <a:ext cx="5349240" cy="157276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Cheap path — 7 small classifier heads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Clr>
                <a:srgbClr val="3F7D5A"/>
              </a:buClr>
              <a:buFont typeface="Arial"/>
              <a:buChar char="▪"/>
            </a:pPr>
            <a:r>
              <a:rPr sz="1150" i="0" b="0">
                <a:solidFill>
                  <a:srgbClr val="3F3F3F"/>
                </a:solidFill>
                <a:latin typeface="Calibri"/>
              </a:rPr>
              <a:t>135 – 280 M parameters, batched on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CPU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Clr>
                <a:srgbClr val="3F7D5A"/>
              </a:buClr>
              <a:buFont typeface="Arial"/>
              <a:buChar char="▪"/>
            </a:pPr>
            <a:r>
              <a:rPr sz="1150" i="0" b="1">
                <a:solidFill>
                  <a:srgbClr val="3F3F3F"/>
                </a:solidFill>
                <a:latin typeface="Calibri"/>
              </a:rPr>
              <a:t>~100 ms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per short comment,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zero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per-token cost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Clr>
                <a:srgbClr val="3F7D5A"/>
              </a:buClr>
              <a:buFont typeface="Arial"/>
              <a:buChar char="▪"/>
            </a:pPr>
            <a:r>
              <a:rPr sz="1150" i="0" b="0">
                <a:solidFill>
                  <a:srgbClr val="3F3F3F"/>
                </a:solidFill>
                <a:latin typeface="Calibri"/>
              </a:rPr>
              <a:t>Weak precisely on the romanized register</a:t>
            </a:r>
          </a:p>
        </p:txBody>
      </p:sp>
      <p:sp>
        <p:nvSpPr>
          <p:cNvPr id="906" name="Rectangle 905"/>
          <p:cNvSpPr/>
          <p:nvPr/>
        </p:nvSpPr>
        <p:spPr>
          <a:xfrm>
            <a:off x="566928" y="1220724"/>
            <a:ext cx="68580" cy="1472184"/>
          </a:xfrm>
          <a:prstGeom prst="rect">
            <a:avLst/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7" name="Rounded Rectangle 906"/>
          <p:cNvSpPr/>
          <p:nvPr/>
        </p:nvSpPr>
        <p:spPr>
          <a:xfrm>
            <a:off x="6272784" y="1170432"/>
            <a:ext cx="5349240" cy="157276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Expensive path — one 7 B instruction-tuned model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Clr>
                <a:srgbClr val="B03A2E"/>
              </a:buClr>
              <a:buFont typeface="Arial"/>
              <a:buChar char="▪"/>
            </a:pPr>
            <a:r>
              <a:rPr sz="1150" i="0" b="1">
                <a:solidFill>
                  <a:srgbClr val="3F3F3F"/>
                </a:solidFill>
                <a:latin typeface="Calibri"/>
              </a:rPr>
              <a:t>7 – 50 s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for a single post-level call, locally served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Clr>
                <a:srgbClr val="B03A2E"/>
              </a:buClr>
              <a:buFont typeface="Arial"/>
              <a:buChar char="▪"/>
            </a:pPr>
            <a:r>
              <a:rPr sz="1150" i="0" b="0">
                <a:solidFill>
                  <a:srgbClr val="3F3F3F"/>
                </a:solidFill>
                <a:latin typeface="Calibri"/>
              </a:rPr>
              <a:t>A Stage-2 batch of 25 comments is a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generation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call — cost scales with prompt length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Clr>
                <a:srgbClr val="B03A2E"/>
              </a:buClr>
              <a:buFont typeface="Arial"/>
              <a:buChar char="▪"/>
            </a:pPr>
            <a:r>
              <a:rPr sz="1150" i="0" b="0">
                <a:solidFill>
                  <a:srgbClr val="3F3F3F"/>
                </a:solidFill>
                <a:latin typeface="Calibri"/>
              </a:rPr>
              <a:t>Better on code-mixed text, and it is the only labeller that sees the parent post</a:t>
            </a:r>
          </a:p>
        </p:txBody>
      </p:sp>
      <p:sp>
        <p:nvSpPr>
          <p:cNvPr id="908" name="Rectangle 907"/>
          <p:cNvSpPr/>
          <p:nvPr/>
        </p:nvSpPr>
        <p:spPr>
          <a:xfrm>
            <a:off x="6272784" y="1220724"/>
            <a:ext cx="68580" cy="147218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9" name="Rounded Rectangle 908"/>
          <p:cNvSpPr/>
          <p:nvPr/>
        </p:nvSpPr>
        <p:spPr>
          <a:xfrm>
            <a:off x="566928" y="2889504"/>
            <a:ext cx="11055096" cy="566928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 b="1">
                <a:solidFill>
                  <a:srgbClr val="FFFFFF"/>
                </a:solidFill>
                <a:latin typeface="Calibri"/>
              </a:rPr>
              <a:t>Two to three orders of magnitude</a:t>
            </a:r>
            <a:r>
              <a:rPr sz="1250" i="0" b="0">
                <a:solidFill>
                  <a:srgbClr val="FFFFFF"/>
                </a:solidFill>
                <a:latin typeface="Calibri"/>
              </a:rPr>
              <a:t> in latency, and a comparable gap in money on a metered backend. A system that decides </a:t>
            </a:r>
            <a:r>
              <a:rPr sz="1250" i="1" b="0">
                <a:solidFill>
                  <a:srgbClr val="FFFFFF"/>
                </a:solidFill>
                <a:latin typeface="Calibri"/>
              </a:rPr>
              <a:t>which</a:t>
            </a:r>
            <a:r>
              <a:rPr sz="1250" i="0" b="0">
                <a:solidFill>
                  <a:srgbClr val="FFFFFF"/>
                </a:solidFill>
                <a:latin typeface="Calibri"/>
              </a:rPr>
              <a:t> items need the expensive path converts an unbounded bill into a bounded one.</a:t>
            </a:r>
          </a:p>
        </p:txBody>
      </p:sp>
      <p:sp>
        <p:nvSpPr>
          <p:cNvPr id="910" name="Rounded Rectangle 909"/>
          <p:cNvSpPr/>
          <p:nvPr/>
        </p:nvSpPr>
        <p:spPr>
          <a:xfrm>
            <a:off x="566928" y="3602736"/>
            <a:ext cx="5349240" cy="1243584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Why the decision is hard to make well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150" i="0" b="0">
                <a:solidFill>
                  <a:srgbClr val="3F3F3F"/>
                </a:solidFill>
                <a:latin typeface="Calibri"/>
              </a:rPr>
              <a:t>A confidence gate is only as good as the estimate feeding it — and an uncalibrated estimate on an unseen language is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a guess wearing a number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150" i="0" b="0">
                <a:solidFill>
                  <a:srgbClr val="3F3F3F"/>
                </a:solidFill>
                <a:latin typeface="Calibri"/>
              </a:rPr>
              <a:t>FrugalGPT [30], RouteLLM [31] and Hybrid LLM [32] fix the shape of the answer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for English single queries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.</a:t>
            </a:r>
          </a:p>
        </p:txBody>
      </p:sp>
      <p:sp>
        <p:nvSpPr>
          <p:cNvPr id="911" name="Rectangle 910"/>
          <p:cNvSpPr/>
          <p:nvPr/>
        </p:nvSpPr>
        <p:spPr>
          <a:xfrm>
            <a:off x="566928" y="3653028"/>
            <a:ext cx="68580" cy="1143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2" name="Rounded Rectangle 911"/>
          <p:cNvSpPr/>
          <p:nvPr/>
        </p:nvSpPr>
        <p:spPr>
          <a:xfrm>
            <a:off x="6272784" y="3602736"/>
            <a:ext cx="5349240" cy="1243584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Why sentiment alone is not the question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1869B"/>
              </a:buClr>
              <a:buFont typeface="Arial"/>
              <a:buChar char="▪"/>
            </a:pPr>
            <a:r>
              <a:rPr sz="1150" i="0" b="0">
                <a:solidFill>
                  <a:srgbClr val="3F3F3F"/>
                </a:solidFill>
                <a:latin typeface="Calibri"/>
              </a:rPr>
              <a:t>Monitoring needs the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target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of the affect, not only its polarity.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1869B"/>
              </a:buClr>
              <a:buFont typeface="Arial"/>
              <a:buChar char="▪"/>
            </a:pPr>
            <a:r>
              <a:rPr sz="1150" i="0" b="0">
                <a:solidFill>
                  <a:srgbClr val="3F3F3F"/>
                </a:solidFill>
                <a:latin typeface="Calibri"/>
              </a:rPr>
              <a:t>The hard part is the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matcher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: one entity is written in three scripts, and a watchlist that matches one spelling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fails silently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— zero mentions looks exactly like an entity nobody discussed.</a:t>
            </a:r>
          </a:p>
        </p:txBody>
      </p:sp>
      <p:sp>
        <p:nvSpPr>
          <p:cNvPr id="913" name="Rectangle 912"/>
          <p:cNvSpPr/>
          <p:nvPr/>
        </p:nvSpPr>
        <p:spPr>
          <a:xfrm>
            <a:off x="6272784" y="3653028"/>
            <a:ext cx="68580" cy="1143000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4" name="TextBox 913"/>
          <p:cNvSpPr txBox="1"/>
          <p:nvPr/>
        </p:nvSpPr>
        <p:spPr>
          <a:xfrm>
            <a:off x="566928" y="501091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1" b="0">
                <a:solidFill>
                  <a:srgbClr val="1F497D"/>
                </a:solidFill>
                <a:latin typeface="Calibri"/>
              </a:rPr>
              <a:t>No published cascade routes a </a:t>
            </a:r>
            <a:r>
              <a:rPr sz="1200" i="1" b="0">
                <a:solidFill>
                  <a:srgbClr val="1F497D"/>
                </a:solidFill>
                <a:latin typeface="Calibri"/>
              </a:rPr>
              <a:t>container</a:t>
            </a:r>
            <a:r>
              <a:rPr sz="1200" i="1" b="0">
                <a:solidFill>
                  <a:srgbClr val="1F497D"/>
                </a:solidFill>
                <a:latin typeface="Calibri"/>
              </a:rPr>
              <a:t> whose thousands of sub-items each need labelling — so none reports what share of the bill the routing decision actually governs. That unreported quantity is where this project starts.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1 · § 1.3</a:t>
            </a:r>
          </a:p>
        </p:txBody>
      </p:sp>
      <p:sp>
        <p:nvSpPr>
          <p:cNvPr id="905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06" name="Rounded Rectangle 905"/>
          <p:cNvSpPr/>
          <p:nvPr/>
        </p:nvSpPr>
        <p:spPr>
          <a:xfrm>
            <a:off x="566928" y="1188720"/>
            <a:ext cx="11055096" cy="1060704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7" name="Rectangle 906"/>
          <p:cNvSpPr/>
          <p:nvPr/>
        </p:nvSpPr>
        <p:spPr>
          <a:xfrm>
            <a:off x="566928" y="1239012"/>
            <a:ext cx="68580" cy="960119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8" name="Rounded Rectangle 907"/>
          <p:cNvSpPr/>
          <p:nvPr/>
        </p:nvSpPr>
        <p:spPr>
          <a:xfrm>
            <a:off x="768096" y="1408176"/>
            <a:ext cx="658368" cy="621792"/>
          </a:xfrm>
          <a:prstGeom prst="roundRect">
            <a:avLst>
              <a:gd name="adj" fmla="val 14000"/>
            </a:avLst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i="0" b="1">
                <a:solidFill>
                  <a:srgbClr val="FFFFFF"/>
                </a:solidFill>
                <a:latin typeface="Calibri"/>
              </a:rPr>
              <a:t>O1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1536192" y="1307592"/>
            <a:ext cx="87325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i="0" b="1">
                <a:solidFill>
                  <a:srgbClr val="1F497D"/>
                </a:solidFill>
                <a:latin typeface="Calibri"/>
              </a:rPr>
              <a:t>Build the analysis service</a:t>
            </a:r>
          </a:p>
          <a:p>
            <a:pPr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0">
                <a:solidFill>
                  <a:srgbClr val="3F3F3F"/>
                </a:solidFill>
                <a:latin typeface="Calibri"/>
              </a:rPr>
              <a:t>A horizontally scalable, queue-based microservice that consumes a post-with-details payload, analyses it in its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own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datastores, and returns one schema-validated JSON document per thread —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never writing back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to the upstream platform.</a:t>
            </a:r>
          </a:p>
        </p:txBody>
      </p:sp>
      <p:sp>
        <p:nvSpPr>
          <p:cNvPr id="910" name="Rounded Rectangle 909"/>
          <p:cNvSpPr/>
          <p:nvPr/>
        </p:nvSpPr>
        <p:spPr>
          <a:xfrm>
            <a:off x="10451592" y="1307592"/>
            <a:ext cx="969264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i="0" b="1">
                <a:solidFill>
                  <a:srgbClr val="4F81BD"/>
                </a:solidFill>
                <a:latin typeface="Calibri"/>
              </a:rPr>
              <a:t>closes G1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566928" y="2368296"/>
            <a:ext cx="11055096" cy="1060704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2" name="Rectangle 911"/>
          <p:cNvSpPr/>
          <p:nvPr/>
        </p:nvSpPr>
        <p:spPr>
          <a:xfrm>
            <a:off x="566928" y="2418588"/>
            <a:ext cx="68580" cy="960119"/>
          </a:xfrm>
          <a:prstGeom prst="rect">
            <a:avLst/>
          </a:prstGeom>
          <a:solidFill>
            <a:srgbClr val="215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3" name="Rounded Rectangle 912"/>
          <p:cNvSpPr/>
          <p:nvPr/>
        </p:nvSpPr>
        <p:spPr>
          <a:xfrm>
            <a:off x="768096" y="2587752"/>
            <a:ext cx="658368" cy="621792"/>
          </a:xfrm>
          <a:prstGeom prst="roundRect">
            <a:avLst>
              <a:gd name="adj" fmla="val 14000"/>
            </a:avLst>
          </a:prstGeom>
          <a:solidFill>
            <a:srgbClr val="215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i="0" b="1">
                <a:solidFill>
                  <a:srgbClr val="FFFFFF"/>
                </a:solidFill>
                <a:latin typeface="Calibri"/>
              </a:rPr>
              <a:t>O2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1536192" y="2487168"/>
            <a:ext cx="87325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i="0" b="1">
                <a:solidFill>
                  <a:srgbClr val="1F497D"/>
                </a:solidFill>
                <a:latin typeface="Calibri"/>
              </a:rPr>
              <a:t>Make the cascade selective — and measure it</a:t>
            </a:r>
          </a:p>
          <a:p>
            <a:pPr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0">
                <a:solidFill>
                  <a:srgbClr val="3F3F3F"/>
                </a:solidFill>
                <a:latin typeface="Calibri"/>
              </a:rPr>
              <a:t>Cheap NLP on every post and every comment; a rule-based router decides post-level spend and,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separately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, which comments the expensive labellers read. Then report the routing rate, the post/comment call split and the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share of spend the gate governs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from the system's own counters.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10451592" y="2487168"/>
            <a:ext cx="969264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2159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i="0" b="1">
                <a:solidFill>
                  <a:srgbClr val="215968"/>
                </a:solidFill>
                <a:latin typeface="Calibri"/>
              </a:rPr>
              <a:t>closes G2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566928" y="3547872"/>
            <a:ext cx="11055096" cy="1060704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7" name="Rectangle 916"/>
          <p:cNvSpPr/>
          <p:nvPr/>
        </p:nvSpPr>
        <p:spPr>
          <a:xfrm>
            <a:off x="566928" y="3598164"/>
            <a:ext cx="68580" cy="960119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8" name="Rounded Rectangle 917"/>
          <p:cNvSpPr/>
          <p:nvPr/>
        </p:nvSpPr>
        <p:spPr>
          <a:xfrm>
            <a:off x="768096" y="3767328"/>
            <a:ext cx="658368" cy="621792"/>
          </a:xfrm>
          <a:prstGeom prst="roundRect">
            <a:avLst>
              <a:gd name="adj" fmla="val 14000"/>
            </a:avLst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i="0" b="1">
                <a:solidFill>
                  <a:srgbClr val="FFFFFF"/>
                </a:solidFill>
                <a:latin typeface="Calibri"/>
              </a:rPr>
              <a:t>O3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1536192" y="3666744"/>
            <a:ext cx="87325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i="0" b="1">
                <a:solidFill>
                  <a:srgbClr val="1F497D"/>
                </a:solidFill>
                <a:latin typeface="Calibri"/>
              </a:rPr>
              <a:t>Deliver the capability layers the setting needs</a:t>
            </a:r>
          </a:p>
          <a:p>
            <a:pPr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0">
                <a:solidFill>
                  <a:srgbClr val="3F3F3F"/>
                </a:solidFill>
                <a:latin typeface="Calibri"/>
              </a:rPr>
              <a:t>An eight-labeller per-comment ensemble in which a labeller that cannot answer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abstains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; alias-aware watchlist target stance kept in a separate field from sentiment; and an agentic insight layer over MCP tools under budgets, injection hardening and citation verification.</a:t>
            </a:r>
          </a:p>
        </p:txBody>
      </p:sp>
      <p:sp>
        <p:nvSpPr>
          <p:cNvPr id="920" name="Rounded Rectangle 919"/>
          <p:cNvSpPr/>
          <p:nvPr/>
        </p:nvSpPr>
        <p:spPr>
          <a:xfrm>
            <a:off x="10451592" y="3666744"/>
            <a:ext cx="969264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i="0" b="1">
                <a:solidFill>
                  <a:srgbClr val="C55A11"/>
                </a:solidFill>
                <a:latin typeface="Calibri"/>
              </a:rPr>
              <a:t>closes G3</a:t>
            </a:r>
          </a:p>
        </p:txBody>
      </p:sp>
      <p:sp>
        <p:nvSpPr>
          <p:cNvPr id="921" name="Rounded Rectangle 920"/>
          <p:cNvSpPr/>
          <p:nvPr/>
        </p:nvSpPr>
        <p:spPr>
          <a:xfrm>
            <a:off x="566928" y="4727448"/>
            <a:ext cx="11055096" cy="1060704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2" name="Rectangle 921"/>
          <p:cNvSpPr/>
          <p:nvPr/>
        </p:nvSpPr>
        <p:spPr>
          <a:xfrm>
            <a:off x="566928" y="4777740"/>
            <a:ext cx="68580" cy="960119"/>
          </a:xfrm>
          <a:prstGeom prst="rect">
            <a:avLst/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3" name="Rounded Rectangle 922"/>
          <p:cNvSpPr/>
          <p:nvPr/>
        </p:nvSpPr>
        <p:spPr>
          <a:xfrm>
            <a:off x="768096" y="4946904"/>
            <a:ext cx="658368" cy="621792"/>
          </a:xfrm>
          <a:prstGeom prst="roundRect">
            <a:avLst>
              <a:gd name="adj" fmla="val 14000"/>
            </a:avLst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i="0" b="1">
                <a:solidFill>
                  <a:srgbClr val="FFFFFF"/>
                </a:solidFill>
                <a:latin typeface="Calibri"/>
              </a:rPr>
              <a:t>O4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1536192" y="4846320"/>
            <a:ext cx="87325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i="0" b="1">
                <a:solidFill>
                  <a:srgbClr val="1F497D"/>
                </a:solidFill>
                <a:latin typeface="Calibri"/>
              </a:rPr>
              <a:t>Make every claim auditable</a:t>
            </a:r>
          </a:p>
          <a:p>
            <a:pPr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0">
                <a:solidFill>
                  <a:srgbClr val="3F3F3F"/>
                </a:solidFill>
                <a:latin typeface="Calibri"/>
              </a:rPr>
              <a:t>Provenance on every label, per-lane cost telemetry, a live per-post trace and a regression suite that fails when a repaired defect returns — with an </a:t>
            </a:r>
            <a:r>
              <a:rPr sz="1150" i="0" b="1">
                <a:solidFill>
                  <a:srgbClr val="3F3F3F"/>
                </a:solidFill>
                <a:latin typeface="Calibri"/>
              </a:rPr>
              <a:t>evidence class attached to every published claim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, so the boundary of the evaluation is part of the result.</a:t>
            </a:r>
          </a:p>
        </p:txBody>
      </p:sp>
      <p:sp>
        <p:nvSpPr>
          <p:cNvPr id="925" name="Rounded Rectangle 924"/>
          <p:cNvSpPr/>
          <p:nvPr/>
        </p:nvSpPr>
        <p:spPr>
          <a:xfrm>
            <a:off x="10451592" y="4846320"/>
            <a:ext cx="969264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3F7D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i="0" b="1">
                <a:solidFill>
                  <a:srgbClr val="3F7D5A"/>
                </a:solidFill>
                <a:latin typeface="Calibri"/>
              </a:rPr>
              <a:t>closes G4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Background Study — Bangla, code-mixing and stance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2 · § 2.2</a:t>
            </a:r>
          </a:p>
        </p:txBody>
      </p:sp>
      <p:sp>
        <p:nvSpPr>
          <p:cNvPr id="906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graphicFrame>
        <p:nvGraphicFramePr>
          <p:cNvPr id="907" name="Table 906"/>
          <p:cNvGraphicFramePr>
            <a:graphicFrameLocks noGrp="1"/>
          </p:cNvGraphicFramePr>
          <p:nvPr/>
        </p:nvGraphicFramePr>
        <p:xfrm>
          <a:off x="566928" y="1188720"/>
          <a:ext cx="11055094" cy="37993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0605"/>
                <a:gridCol w="610887"/>
                <a:gridCol w="3448559"/>
                <a:gridCol w="5025043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FFFFFF"/>
                          </a:solidFill>
                          <a:latin typeface="Calibri"/>
                        </a:rPr>
                        <a:t>Author(s)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FFFFFF"/>
                          </a:solidFill>
                          <a:latin typeface="Calibri"/>
                        </a:rPr>
                        <a:t>Contribution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FFFFFF"/>
                          </a:solidFill>
                          <a:latin typeface="Calibri"/>
                        </a:rPr>
                        <a:t>Why it matters here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3F3F3F"/>
                          </a:solidFill>
                          <a:latin typeface="Calibri"/>
                        </a:rPr>
                        <a:t>Bhattacharjee et al. [1]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BanglaBERT — ELECTRA-style pretraining on 27.5 GB of Bangla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Strongest monolingual Bangla encoder; </a:t>
                      </a:r>
                      <a:r>
                        <a:rPr sz="1000" i="0" b="1">
                          <a:solidFill>
                            <a:srgbClr val="1F497D"/>
                          </a:solidFill>
                          <a:latin typeface="Calibri"/>
                        </a:rPr>
                        <a:t>two of our seven ensemble heads</a:t>
                      </a: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 are BanglaBERT derivatives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3F3F3F"/>
                          </a:solidFill>
                          <a:latin typeface="Calibri"/>
                        </a:rPr>
                        <a:t>Islam et al. [2]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SentNoB — 15,000 human-annotated noisy Bangla comments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Social-media Bangla is materially harder than curated Bangla; the SentNoB fine-tune is one of our voters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3F3F3F"/>
                          </a:solidFill>
                          <a:latin typeface="Calibri"/>
                        </a:rPr>
                        <a:t>Sazzed [4]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Abusive content in a transliterated Bengali–English corpus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Exactly our setting: </a:t>
                      </a:r>
                      <a:r>
                        <a:rPr sz="1000" i="0" b="1">
                          <a:solidFill>
                            <a:srgbClr val="1F497D"/>
                          </a:solidFill>
                          <a:latin typeface="Calibri"/>
                        </a:rPr>
                        <a:t>transliteration, not vocabulary</a:t>
                      </a: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, is the primary source of error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3F3F3F"/>
                          </a:solidFill>
                          <a:latin typeface="Calibri"/>
                        </a:rPr>
                        <a:t>Nezami &amp; Huda [6]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Sentiment for code-mixed English–Bangla and Banglish text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Closest published formulation to our comment lane; Banglish is a </a:t>
                      </a:r>
                      <a:r>
                        <a:rPr sz="1000" i="0" b="1">
                          <a:solidFill>
                            <a:srgbClr val="1F497D"/>
                          </a:solidFill>
                          <a:latin typeface="Calibri"/>
                        </a:rPr>
                        <a:t>distinct third bucket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3F3F3F"/>
                          </a:solidFill>
                          <a:latin typeface="Calibri"/>
                        </a:rPr>
                        <a:t>Alam et al. [9]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Survey of Bangla NLP tasks and transformer utility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1F497D"/>
                          </a:solidFill>
                          <a:latin typeface="Calibri"/>
                        </a:rPr>
                        <a:t>Annotated data, not architecture, is the bottleneck</a:t>
                      </a: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 — why our effort goes into the system and its provenance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3F3F3F"/>
                          </a:solidFill>
                          <a:latin typeface="Calibri"/>
                        </a:rPr>
                        <a:t>Kucuk &amp; Can [13]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Stance detection: a survey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Stance toward a target and document sentiment are </a:t>
                      </a:r>
                      <a:r>
                        <a:rPr sz="1000" i="0" b="1">
                          <a:solidFill>
                            <a:srgbClr val="1F497D"/>
                          </a:solidFill>
                          <a:latin typeface="Calibri"/>
                        </a:rPr>
                        <a:t>distinct quantities</a:t>
                      </a: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 — hence two separate output fields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3F3F3F"/>
                          </a:solidFill>
                          <a:latin typeface="Calibri"/>
                        </a:rPr>
                        <a:t>Patwa et al. [10]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2020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SemEval-2020 Task 9 — code-mixed sentiment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Fixes the standard evaluation protocol, and the size of the gap versus monolingual data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8" name="TextBox 907"/>
          <p:cNvSpPr txBox="1"/>
          <p:nvPr/>
        </p:nvSpPr>
        <p:spPr>
          <a:xfrm>
            <a:off x="566928" y="5230368"/>
            <a:ext cx="110550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 b="0">
                <a:solidFill>
                  <a:srgbClr val="1F497D"/>
                </a:solidFill>
                <a:latin typeface="Calibri"/>
              </a:rPr>
              <a:t>Takeaway — the field supplies good models and repeatedly says the same thing: </a:t>
            </a:r>
            <a:r>
              <a:rPr sz="1200" i="0" b="1">
                <a:solidFill>
                  <a:srgbClr val="1F497D"/>
                </a:solidFill>
                <a:latin typeface="Calibri"/>
              </a:rPr>
              <a:t>romanized text is where they fail, and labels are the binding constraint.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Background Study — cascades, retrieval and agents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2 · § 2.2</a:t>
            </a:r>
          </a:p>
        </p:txBody>
      </p:sp>
      <p:sp>
        <p:nvSpPr>
          <p:cNvPr id="907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graphicFrame>
        <p:nvGraphicFramePr>
          <p:cNvPr id="908" name="Table 907"/>
          <p:cNvGraphicFramePr>
            <a:graphicFrameLocks noGrp="1"/>
          </p:cNvGraphicFramePr>
          <p:nvPr/>
        </p:nvGraphicFramePr>
        <p:xfrm>
          <a:off x="566928" y="1188720"/>
          <a:ext cx="11055094" cy="26883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2183"/>
                <a:gridCol w="740296"/>
                <a:gridCol w="3356011"/>
                <a:gridCol w="4836604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FFFFFF"/>
                          </a:solidFill>
                          <a:latin typeface="Calibri"/>
                        </a:rPr>
                        <a:t>Author(s)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FFFFFF"/>
                          </a:solidFill>
                          <a:latin typeface="Calibri"/>
                        </a:rPr>
                        <a:t>Contribution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FFFFFF"/>
                          </a:solidFill>
                          <a:latin typeface="Calibri"/>
                        </a:rPr>
                        <a:t>Why it matters here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3F3F3F"/>
                          </a:solidFill>
                          <a:latin typeface="Calibri"/>
                        </a:rPr>
                        <a:t>Chen, Zaharia &amp; Zou [30]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FrugalGPT — LLM cascade with a learned scorer and a budget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The foundational cost-cascade result; we implement the idea with a </a:t>
                      </a:r>
                      <a:r>
                        <a:rPr sz="1000" i="0" b="1">
                          <a:solidFill>
                            <a:srgbClr val="1F497D"/>
                          </a:solidFill>
                          <a:latin typeface="Calibri"/>
                        </a:rPr>
                        <a:t>rule-based</a:t>
                      </a: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 gate and measure where the analogy breaks for thread-shaped units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3F3F3F"/>
                          </a:solidFill>
                          <a:latin typeface="Calibri"/>
                        </a:rPr>
                        <a:t>Ong et al. [31]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RouteLLM — learning to route from preference data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The routing decision </a:t>
                      </a:r>
                      <a:r>
                        <a:rPr sz="1000" i="0" b="1">
                          <a:solidFill>
                            <a:srgbClr val="1F497D"/>
                          </a:solidFill>
                          <a:latin typeface="Calibri"/>
                        </a:rPr>
                        <a:t>can be learned</a:t>
                      </a: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; named in Chapter 6 as the most valuable single upgrade to our hand-tuned gate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3F3F3F"/>
                          </a:solidFill>
                          <a:latin typeface="Calibri"/>
                        </a:rPr>
                        <a:t>Lewis et al. [34]; Gao et al. [35]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2020 · 2023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Retrieval-augmented generation, and its survey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The pattern our insight layer generalises from single-shot retrieval to a </a:t>
                      </a:r>
                      <a:r>
                        <a:rPr sz="1000" i="0" b="1">
                          <a:solidFill>
                            <a:srgbClr val="1F497D"/>
                          </a:solidFill>
                          <a:latin typeface="Calibri"/>
                        </a:rPr>
                        <a:t>tool-using loop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3F3F3F"/>
                          </a:solidFill>
                          <a:latin typeface="Calibri"/>
                        </a:rPr>
                        <a:t>Hou et al. [38]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Model Context Protocol — landscape and security threats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The tool-interface standard we adopt, together with the threats that motivated the runner's hardening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3F3F3F"/>
                          </a:solidFill>
                          <a:latin typeface="Calibri"/>
                        </a:rPr>
                        <a:t>Greshake et al. [43]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Indirect prompt injection in LLM-integrated applications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Retrieved third-party comment text is </a:t>
                      </a:r>
                      <a:r>
                        <a:rPr sz="1000" i="0" b="1">
                          <a:solidFill>
                            <a:srgbClr val="1F497D"/>
                          </a:solidFill>
                          <a:latin typeface="Calibri"/>
                        </a:rPr>
                        <a:t>adversarial input</a:t>
                      </a:r>
                      <a:r>
                        <a:rPr sz="1000" i="0" b="0">
                          <a:solidFill>
                            <a:srgbClr val="3F3F3F"/>
                          </a:solidFill>
                          <a:latin typeface="Calibri"/>
                        </a:rPr>
                        <a:t>; hardening is risk reduction, never a solution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9" name="TextBox 908"/>
          <p:cNvSpPr txBox="1"/>
          <p:nvPr/>
        </p:nvSpPr>
        <p:spPr>
          <a:xfrm>
            <a:off x="566928" y="416966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Five classes of similar application — and how each one falls short</a:t>
            </a:r>
          </a:p>
        </p:txBody>
      </p:sp>
      <p:sp>
        <p:nvSpPr>
          <p:cNvPr id="910" name="Rounded Rectangle 909"/>
          <p:cNvSpPr/>
          <p:nvPr/>
        </p:nvSpPr>
        <p:spPr>
          <a:xfrm>
            <a:off x="566928" y="4443984"/>
            <a:ext cx="2093976" cy="1097280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91440" bIns="9144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150" i="0" b="1">
                <a:solidFill>
                  <a:srgbClr val="1F497D"/>
                </a:solidFill>
                <a:latin typeface="Calibri"/>
              </a:rPr>
              <a:t>Commercial listening suites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3F3F3F"/>
                </a:solidFill>
                <a:latin typeface="Calibri"/>
              </a:rPr>
              <a:t>Complete but closed, English-centric, comments sampled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2807208" y="4443984"/>
            <a:ext cx="2093976" cy="1097280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91440" bIns="9144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150" i="0" b="1">
                <a:solidFill>
                  <a:srgbClr val="1F497D"/>
                </a:solidFill>
                <a:latin typeface="Calibri"/>
              </a:rPr>
              <a:t>The upstream platform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3F3F3F"/>
                </a:solidFill>
                <a:latin typeface="Calibri"/>
              </a:rPr>
              <a:t>Reliable ingestion; comment sentiment null, no OCR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5047488" y="4443984"/>
            <a:ext cx="2093976" cy="1097280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91440" bIns="9144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150" i="0" b="1">
                <a:solidFill>
                  <a:srgbClr val="1F497D"/>
                </a:solidFill>
                <a:latin typeface="Calibri"/>
              </a:rPr>
              <a:t>Academic Bangla classifiers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3F3F3F"/>
                </a:solidFill>
                <a:latin typeface="Calibri"/>
              </a:rPr>
              <a:t>Good models, no system: no ingestion, serving or cost model</a:t>
            </a:r>
          </a:p>
        </p:txBody>
      </p:sp>
      <p:sp>
        <p:nvSpPr>
          <p:cNvPr id="913" name="Rounded Rectangle 912"/>
          <p:cNvSpPr/>
          <p:nvPr/>
        </p:nvSpPr>
        <p:spPr>
          <a:xfrm>
            <a:off x="7287768" y="4443984"/>
            <a:ext cx="2093976" cy="1097280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91440" bIns="9144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150" i="0" b="1">
                <a:solidFill>
                  <a:srgbClr val="1F497D"/>
                </a:solidFill>
                <a:latin typeface="Calibri"/>
              </a:rPr>
              <a:t>General RAG assistants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3F3F3F"/>
                </a:solidFill>
                <a:latin typeface="Calibri"/>
              </a:rPr>
              <a:t>Retrieve text a user could already read; no injection defence</a:t>
            </a:r>
          </a:p>
        </p:txBody>
      </p:sp>
      <p:sp>
        <p:nvSpPr>
          <p:cNvPr id="914" name="Rounded Rectangle 913"/>
          <p:cNvSpPr/>
          <p:nvPr/>
        </p:nvSpPr>
        <p:spPr>
          <a:xfrm>
            <a:off x="9528048" y="4443984"/>
            <a:ext cx="2093976" cy="1097280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91440" bIns="9144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150" i="0" b="1">
                <a:solidFill>
                  <a:srgbClr val="1F497D"/>
                </a:solidFill>
                <a:latin typeface="Calibri"/>
              </a:rPr>
              <a:t>Cascade / router frameworks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3F3F3F"/>
                </a:solidFill>
                <a:latin typeface="Calibri"/>
              </a:rPr>
              <a:t>Components, not systems: no ingestion contract, no telemetry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Gap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2 · § 2.3</a:t>
            </a:r>
          </a:p>
        </p:txBody>
      </p:sp>
      <p:sp>
        <p:nvSpPr>
          <p:cNvPr id="908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graphicFrame>
        <p:nvGraphicFramePr>
          <p:cNvPr id="909" name="Table 908"/>
          <p:cNvGraphicFramePr>
            <a:graphicFrameLocks noGrp="1"/>
          </p:cNvGraphicFramePr>
          <p:nvPr/>
        </p:nvGraphicFramePr>
        <p:xfrm>
          <a:off x="566928" y="1188720"/>
          <a:ext cx="11055094" cy="42793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17501"/>
                <a:gridCol w="3643973"/>
                <a:gridCol w="636412"/>
                <a:gridCol w="4157208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FFFFFF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FFFFFF"/>
                          </a:solidFill>
                          <a:latin typeface="Calibri"/>
                        </a:rPr>
                        <a:t>Observed in prior work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FFFFFF"/>
                          </a:solidFill>
                          <a:latin typeface="Calibri"/>
                        </a:rPr>
                        <a:t>Obj.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FFFFFF"/>
                          </a:solidFill>
                          <a:latin typeface="Calibri"/>
                        </a:rPr>
                        <a:t>How this project closes it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</a:tr>
              <a:tr h="996696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G1</a:t>
                      </a: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 — No deployable analysis layer for code-mixed Bangla threads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The capabilities sit in classes of system that never meet: platforms ingest and barely analyse; listening suites are closed and English-centric; academic work ships classifiers, not systems.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O1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One queue-based microservice: ingest the whole stored thread, analyse in its own stores, emit one schema-validated JSON per thread, never write back — the platform's coarse score kept </a:t>
                      </a: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beside</a:t>
                      </a: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 the recomputed one.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996696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G2</a:t>
                      </a: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 — Cascades are evaluated on single queries, so the cost of routing a </a:t>
                      </a:r>
                      <a:r>
                        <a:rPr sz="950" i="1" b="0">
                          <a:solidFill>
                            <a:srgbClr val="3F3F3F"/>
                          </a:solidFill>
                          <a:latin typeface="Calibri"/>
                        </a:rPr>
                        <a:t>container</a:t>
                      </a: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 is unreported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The cost-aware cascade literature [30], [31], [32] routes one query to one model. No published cascade routes a thread whose sub-items each need labelling, so none reports what share of the bill the container-level decision governs.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O2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The router makes </a:t>
                      </a: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two separate decisions</a:t>
                      </a: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, and the counters report the post- versus comment-level call split. Measured answer: the gate governs only </a:t>
                      </a: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30 %</a:t>
                      </a: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 of calls — a finding that contradicted this project's own initial claim.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996696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G3</a:t>
                      </a: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 — The capability layers an adversarial code-mixed setting needs are missing or unsafe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Fused ensembles hide a member that failed to load; target stance assumes English and a fixed target set; agentic RAG is judged on whether the answer </a:t>
                      </a:r>
                      <a:r>
                        <a:rPr sz="950" i="1" b="0">
                          <a:solidFill>
                            <a:srgbClr val="3F3F3F"/>
                          </a:solidFill>
                          <a:latin typeface="Calibri"/>
                        </a:rPr>
                        <a:t>looks</a:t>
                      </a: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 right, with no defence against instructions inside retrieved text [43].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O3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Eight labellers with </a:t>
                      </a: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explicit abstention</a:t>
                      </a: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 and </a:t>
                      </a:r>
                      <a:r>
                        <a:rPr sz="950" i="1" b="0">
                          <a:solidFill>
                            <a:srgbClr val="3F3F3F"/>
                          </a:solidFill>
                          <a:latin typeface="Calibri"/>
                        </a:rPr>
                        <a:t>uncertain</a:t>
                      </a: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 where nothing read the comment; a versioned, alias-aware watchlist built for the three-script problem; and a runner with untrusted-data delimiters, citation verification and non-answer rejection.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996696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G4</a:t>
                      </a: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 — Systems papers report what a system does, not which claims were checked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An implemented-but-unexercised capability reads exactly like a measured one, and a green test suite reads like a quality claim. Where the evidence stops is left to the reader.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O4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Every capability carries an </a:t>
                      </a: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evidence class</a:t>
                      </a: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 — measured, works-but-unmeasured, unexercised, out of scope — recorded once. The image modality is reported as unexercised; labelling accuracy as a stated scope boundary.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910" name="TextBox 909"/>
          <p:cNvSpPr txBox="1"/>
          <p:nvPr/>
        </p:nvSpPr>
        <p:spPr>
          <a:xfrm>
            <a:off x="566928" y="5504688"/>
            <a:ext cx="110550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i="0" b="0">
                <a:solidFill>
                  <a:srgbClr val="1F497D"/>
                </a:solidFill>
                <a:latin typeface="Calibri"/>
              </a:rPr>
              <a:t>Four gaps, four objectives, </a:t>
            </a:r>
            <a:r>
              <a:rPr sz="1200" i="0" b="1">
                <a:solidFill>
                  <a:srgbClr val="1F497D"/>
                </a:solidFill>
                <a:latin typeface="Calibri"/>
              </a:rPr>
              <a:t>one for one</a:t>
            </a:r>
            <a:r>
              <a:rPr sz="1200" i="0" b="0">
                <a:solidFill>
                  <a:srgbClr val="1F497D"/>
                </a:solidFill>
                <a:latin typeface="Calibri"/>
              </a:rPr>
              <a:t> — the gap analysis is the specification for Chapter 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Research Methodology — how the work was carried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3</a:t>
            </a:r>
          </a:p>
        </p:txBody>
      </p:sp>
      <p:sp>
        <p:nvSpPr>
          <p:cNvPr id="909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10" name="Pentagon 909"/>
          <p:cNvSpPr/>
          <p:nvPr/>
        </p:nvSpPr>
        <p:spPr>
          <a:xfrm>
            <a:off x="566928" y="1207008"/>
            <a:ext cx="1796796" cy="566928"/>
          </a:xfrm>
          <a:prstGeom prst="homePlate">
            <a:avLst>
              <a:gd name="adj" fmla="val 22000"/>
            </a:avLst>
          </a:prstGeom>
          <a:solidFill>
            <a:srgbClr val="4F81BD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Requirement
Analysis</a:t>
            </a:r>
          </a:p>
        </p:txBody>
      </p:sp>
      <p:sp>
        <p:nvSpPr>
          <p:cNvPr id="911" name="Chevron 910"/>
          <p:cNvSpPr/>
          <p:nvPr/>
        </p:nvSpPr>
        <p:spPr>
          <a:xfrm>
            <a:off x="2418588" y="1207008"/>
            <a:ext cx="1796796" cy="566928"/>
          </a:xfrm>
          <a:prstGeom prst="chevron">
            <a:avLst>
              <a:gd name="adj" fmla="val 22000"/>
            </a:avLst>
          </a:prstGeom>
          <a:solidFill>
            <a:srgbClr val="4F81BD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System
Design</a:t>
            </a:r>
          </a:p>
        </p:txBody>
      </p:sp>
      <p:sp>
        <p:nvSpPr>
          <p:cNvPr id="912" name="Chevron 911"/>
          <p:cNvSpPr/>
          <p:nvPr/>
        </p:nvSpPr>
        <p:spPr>
          <a:xfrm>
            <a:off x="4270248" y="1207008"/>
            <a:ext cx="1796796" cy="566928"/>
          </a:xfrm>
          <a:prstGeom prst="chevron">
            <a:avLst>
              <a:gd name="adj" fmla="val 22000"/>
            </a:avLst>
          </a:prstGeom>
          <a:solidFill>
            <a:srgbClr val="4F81BD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Development</a:t>
            </a:r>
          </a:p>
        </p:txBody>
      </p:sp>
      <p:sp>
        <p:nvSpPr>
          <p:cNvPr id="913" name="Chevron 912"/>
          <p:cNvSpPr/>
          <p:nvPr/>
        </p:nvSpPr>
        <p:spPr>
          <a:xfrm>
            <a:off x="6121907" y="1207008"/>
            <a:ext cx="1796796" cy="566928"/>
          </a:xfrm>
          <a:prstGeom prst="chevron">
            <a:avLst>
              <a:gd name="adj" fmla="val 22000"/>
            </a:avLst>
          </a:prstGeom>
          <a:solidFill>
            <a:srgbClr val="4F81BD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Testing</a:t>
            </a:r>
          </a:p>
        </p:txBody>
      </p:sp>
      <p:sp>
        <p:nvSpPr>
          <p:cNvPr id="914" name="Chevron 913"/>
          <p:cNvSpPr/>
          <p:nvPr/>
        </p:nvSpPr>
        <p:spPr>
          <a:xfrm>
            <a:off x="7973567" y="1207008"/>
            <a:ext cx="1796796" cy="566928"/>
          </a:xfrm>
          <a:prstGeom prst="chevron">
            <a:avLst>
              <a:gd name="adj" fmla="val 22000"/>
            </a:avLst>
          </a:prstGeom>
          <a:solidFill>
            <a:srgbClr val="4F81BD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Deployment</a:t>
            </a:r>
          </a:p>
        </p:txBody>
      </p:sp>
      <p:sp>
        <p:nvSpPr>
          <p:cNvPr id="915" name="Chevron 914"/>
          <p:cNvSpPr/>
          <p:nvPr/>
        </p:nvSpPr>
        <p:spPr>
          <a:xfrm>
            <a:off x="9825228" y="1207008"/>
            <a:ext cx="1796796" cy="566928"/>
          </a:xfrm>
          <a:prstGeom prst="chevron">
            <a:avLst>
              <a:gd name="adj" fmla="val 22000"/>
            </a:avLst>
          </a:prstGeom>
          <a:solidFill>
            <a:srgbClr val="4F81BD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Evaluation
&amp; Audit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566928" y="1956816"/>
            <a:ext cx="5413248" cy="84124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64008" bIns="64008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1. Requirement Analysis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3F3F3F"/>
                </a:solidFill>
                <a:latin typeface="Calibri"/>
              </a:rPr>
              <a:t>Read the upstream contract for what it does and does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not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supply; write functional and non-functional requirements against it.</a:t>
            </a:r>
          </a:p>
        </p:txBody>
      </p:sp>
      <p:sp>
        <p:nvSpPr>
          <p:cNvPr id="917" name="Rectangle 916"/>
          <p:cNvSpPr/>
          <p:nvPr/>
        </p:nvSpPr>
        <p:spPr>
          <a:xfrm>
            <a:off x="566928" y="2002536"/>
            <a:ext cx="64008" cy="74980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8" name="Rounded Rectangle 917"/>
          <p:cNvSpPr/>
          <p:nvPr/>
        </p:nvSpPr>
        <p:spPr>
          <a:xfrm>
            <a:off x="6208776" y="1956816"/>
            <a:ext cx="5413248" cy="84124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64008" bIns="64008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2. System Design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3F3F3F"/>
                </a:solidFill>
                <a:latin typeface="Calibri"/>
              </a:rPr>
              <a:t>Five decoupled stages over Redis Streams; the router's two decisions separated; DFDs, schemas and the UI drawn before code.</a:t>
            </a:r>
          </a:p>
        </p:txBody>
      </p:sp>
      <p:sp>
        <p:nvSpPr>
          <p:cNvPr id="919" name="Rectangle 918"/>
          <p:cNvSpPr/>
          <p:nvPr/>
        </p:nvSpPr>
        <p:spPr>
          <a:xfrm>
            <a:off x="6208776" y="2002536"/>
            <a:ext cx="64008" cy="749808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0" name="Rounded Rectangle 919"/>
          <p:cNvSpPr/>
          <p:nvPr/>
        </p:nvSpPr>
        <p:spPr>
          <a:xfrm>
            <a:off x="566928" y="2871216"/>
            <a:ext cx="5413248" cy="841248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64008" bIns="64008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3. Development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3F3F3F"/>
                </a:solidFill>
                <a:latin typeface="Calibri"/>
              </a:rPr>
              <a:t>Python 3.12 services + React 19 dashboard; four local models;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56,789 lines across 182 files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, of which 19,850 are tests.</a:t>
            </a:r>
          </a:p>
        </p:txBody>
      </p:sp>
      <p:sp>
        <p:nvSpPr>
          <p:cNvPr id="921" name="Rectangle 920"/>
          <p:cNvSpPr/>
          <p:nvPr/>
        </p:nvSpPr>
        <p:spPr>
          <a:xfrm>
            <a:off x="566928" y="2916936"/>
            <a:ext cx="64008" cy="74980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2" name="Rounded Rectangle 921"/>
          <p:cNvSpPr/>
          <p:nvPr/>
        </p:nvSpPr>
        <p:spPr>
          <a:xfrm>
            <a:off x="6208776" y="2871216"/>
            <a:ext cx="5413248" cy="841248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64008" bIns="64008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4. Testing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3F3F3F"/>
                </a:solidFill>
                <a:latin typeface="Calibri"/>
              </a:rPr>
              <a:t>Contract, regression and datastore layers; the whole chain is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one pass-or-fail command in 73 s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.</a:t>
            </a:r>
          </a:p>
        </p:txBody>
      </p:sp>
      <p:sp>
        <p:nvSpPr>
          <p:cNvPr id="923" name="Rectangle 922"/>
          <p:cNvSpPr/>
          <p:nvPr/>
        </p:nvSpPr>
        <p:spPr>
          <a:xfrm>
            <a:off x="6208776" y="2916936"/>
            <a:ext cx="64008" cy="749808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4" name="Rounded Rectangle 923"/>
          <p:cNvSpPr/>
          <p:nvPr/>
        </p:nvSpPr>
        <p:spPr>
          <a:xfrm>
            <a:off x="566928" y="3785616"/>
            <a:ext cx="5413248" cy="84124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64008" bIns="64008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5. Deployment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3F3F3F"/>
                </a:solidFill>
                <a:latin typeface="Calibri"/>
              </a:rPr>
              <a:t>The same code in three shapes: host processes, Docker Compose and Kubernetes with queue-depth autoscaling.</a:t>
            </a:r>
          </a:p>
        </p:txBody>
      </p:sp>
      <p:sp>
        <p:nvSpPr>
          <p:cNvPr id="925" name="Rectangle 924"/>
          <p:cNvSpPr/>
          <p:nvPr/>
        </p:nvSpPr>
        <p:spPr>
          <a:xfrm>
            <a:off x="566928" y="3831336"/>
            <a:ext cx="64008" cy="74980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6" name="Rounded Rectangle 925"/>
          <p:cNvSpPr/>
          <p:nvPr/>
        </p:nvSpPr>
        <p:spPr>
          <a:xfrm>
            <a:off x="6208776" y="3785616"/>
            <a:ext cx="5413248" cy="84124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64008" bIns="64008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6. Evaluation &amp; Audit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3F3F3F"/>
                </a:solidFill>
                <a:latin typeface="Calibri"/>
              </a:rPr>
              <a:t>Six independent audit passes, four measurement studies, and an evidence class attached to every claim.</a:t>
            </a:r>
          </a:p>
        </p:txBody>
      </p:sp>
      <p:sp>
        <p:nvSpPr>
          <p:cNvPr id="927" name="Rectangle 926"/>
          <p:cNvSpPr/>
          <p:nvPr/>
        </p:nvSpPr>
        <p:spPr>
          <a:xfrm>
            <a:off x="6208776" y="3831336"/>
            <a:ext cx="64008" cy="749808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8" name="Rounded Rectangle 927"/>
          <p:cNvSpPr/>
          <p:nvPr/>
        </p:nvSpPr>
        <p:spPr>
          <a:xfrm>
            <a:off x="566928" y="4864608"/>
            <a:ext cx="11055096" cy="896112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0">
                <a:solidFill>
                  <a:srgbClr val="FFFFFF"/>
                </a:solidFill>
                <a:latin typeface="Calibri"/>
              </a:rPr>
              <a:t>Stack —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PostgreSQL + pgvector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(canonical rows and vectors),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ClickHouse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(analytics events),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Redis Streams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(queues, cache, progress),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object storage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(raw payloads and reports);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Ollama / vLLM or a cloud API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, switchable at runtime.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3 · § 3.1</a:t>
            </a:r>
          </a:p>
        </p:txBody>
      </p:sp>
      <p:sp>
        <p:nvSpPr>
          <p:cNvPr id="910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911" name="Picture 910" descr="fig-df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225296"/>
            <a:ext cx="5568696" cy="4271919"/>
          </a:xfrm>
          <a:prstGeom prst="rect">
            <a:avLst/>
          </a:prstGeom>
          <a:ln w="12700">
            <a:solidFill>
              <a:srgbClr val="C9D8E8"/>
            </a:solidFill>
          </a:ln>
        </p:spPr>
      </p:pic>
      <p:sp>
        <p:nvSpPr>
          <p:cNvPr id="912" name="TextBox 911"/>
          <p:cNvSpPr txBox="1"/>
          <p:nvPr/>
        </p:nvSpPr>
        <p:spPr>
          <a:xfrm>
            <a:off x="6053328" y="5547507"/>
            <a:ext cx="55686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76808C"/>
                </a:solidFill>
                <a:latin typeface="Calibri"/>
              </a:rPr>
              <a:t>Context diagram — one read-only pull in, one JSON document out</a:t>
            </a:r>
          </a:p>
        </p:txBody>
      </p:sp>
      <p:sp>
        <p:nvSpPr>
          <p:cNvPr id="913" name="Rounded Rectangle 912"/>
          <p:cNvSpPr/>
          <p:nvPr/>
        </p:nvSpPr>
        <p:spPr>
          <a:xfrm>
            <a:off x="566928" y="1225296"/>
            <a:ext cx="5321808" cy="148132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A read-only consumer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One pull of the whole payload — post, comments, engagement, reactions, share sample.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Records are keyed by the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upstream identifier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, so a repeated pull is an upsert, not a duplication.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100" i="0" b="1">
                <a:solidFill>
                  <a:srgbClr val="3F3F3F"/>
                </a:solidFill>
                <a:latin typeface="Calibri"/>
              </a:rPr>
              <a:t>Nothing is ever written back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; the platform's own coarse score is kept only as a displayed baseline.</a:t>
            </a:r>
          </a:p>
        </p:txBody>
      </p:sp>
      <p:sp>
        <p:nvSpPr>
          <p:cNvPr id="914" name="Rectangle 913"/>
          <p:cNvSpPr/>
          <p:nvPr/>
        </p:nvSpPr>
        <p:spPr>
          <a:xfrm>
            <a:off x="566928" y="1275588"/>
            <a:ext cx="68580" cy="138074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5" name="Rounded Rectangle 914"/>
          <p:cNvSpPr/>
          <p:nvPr/>
        </p:nvSpPr>
        <p:spPr>
          <a:xfrm>
            <a:off x="566928" y="2816352"/>
            <a:ext cx="5321808" cy="148132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Its own storage tier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1869B"/>
              </a:buClr>
              <a:buFont typeface="Arial"/>
              <a:buChar char="▪"/>
            </a:pPr>
            <a:r>
              <a:rPr sz="1100" i="0" b="1">
                <a:solidFill>
                  <a:srgbClr val="3F3F3F"/>
                </a:solidFill>
                <a:latin typeface="Calibri"/>
              </a:rPr>
              <a:t>PostgreSQL + pgvector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— canonical posts, comments, embeddings, watchlist versions.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1869B"/>
              </a:buClr>
              <a:buFont typeface="Arial"/>
              <a:buChar char="▪"/>
            </a:pPr>
            <a:r>
              <a:rPr sz="1100" i="0" b="1">
                <a:solidFill>
                  <a:srgbClr val="3F3F3F"/>
                </a:solidFill>
                <a:latin typeface="Calibri"/>
              </a:rPr>
              <a:t>ClickHouse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— analytics events and per-comment sentiment at query speed.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1869B"/>
              </a:buClr>
              <a:buFont typeface="Arial"/>
              <a:buChar char="▪"/>
            </a:pPr>
            <a:r>
              <a:rPr sz="1100" i="0" b="1">
                <a:solidFill>
                  <a:srgbClr val="3F3F3F"/>
                </a:solidFill>
                <a:latin typeface="Calibri"/>
              </a:rPr>
              <a:t>Redis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— five stream queues, the response cache, usage counters and progress events.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1869B"/>
              </a:buClr>
              <a:buFont typeface="Arial"/>
              <a:buChar char="▪"/>
            </a:pPr>
            <a:r>
              <a:rPr sz="1100" i="0" b="1">
                <a:solidFill>
                  <a:srgbClr val="3F3F3F"/>
                </a:solidFill>
                <a:latin typeface="Calibri"/>
              </a:rPr>
              <a:t>Object storage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— raw payloads and generated reports.</a:t>
            </a:r>
          </a:p>
        </p:txBody>
      </p:sp>
      <p:sp>
        <p:nvSpPr>
          <p:cNvPr id="916" name="Rectangle 915"/>
          <p:cNvSpPr/>
          <p:nvPr/>
        </p:nvSpPr>
        <p:spPr>
          <a:xfrm>
            <a:off x="566928" y="2866644"/>
            <a:ext cx="68580" cy="1380744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7" name="Rounded Rectangle 916"/>
          <p:cNvSpPr/>
          <p:nvPr/>
        </p:nvSpPr>
        <p:spPr>
          <a:xfrm>
            <a:off x="566928" y="4407408"/>
            <a:ext cx="5321808" cy="1097280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Two surfaces on top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A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51-path HTTP API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generated from the handlers, with authentication marked per route.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An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eleven-tab operator dashboard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, plus nine agents reachable over MCP.</a:t>
            </a:r>
          </a:p>
        </p:txBody>
      </p:sp>
      <p:sp>
        <p:nvSpPr>
          <p:cNvPr id="918" name="Rectangle 917"/>
          <p:cNvSpPr/>
          <p:nvPr/>
        </p:nvSpPr>
        <p:spPr>
          <a:xfrm>
            <a:off x="566928" y="4457700"/>
            <a:ext cx="68580" cy="996695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The five-stage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3 · § 3.2.1</a:t>
            </a:r>
          </a:p>
        </p:txBody>
      </p:sp>
      <p:sp>
        <p:nvSpPr>
          <p:cNvPr id="911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12" name="Pentagon 911"/>
          <p:cNvSpPr/>
          <p:nvPr/>
        </p:nvSpPr>
        <p:spPr>
          <a:xfrm>
            <a:off x="566928" y="1188720"/>
            <a:ext cx="2167128" cy="548640"/>
          </a:xfrm>
          <a:prstGeom prst="homePlate">
            <a:avLst>
              <a:gd name="adj" fmla="val 220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1 · Ingestion</a:t>
            </a:r>
          </a:p>
        </p:txBody>
      </p:sp>
      <p:sp>
        <p:nvSpPr>
          <p:cNvPr id="913" name="Chevron 912"/>
          <p:cNvSpPr/>
          <p:nvPr/>
        </p:nvSpPr>
        <p:spPr>
          <a:xfrm>
            <a:off x="2788920" y="1188720"/>
            <a:ext cx="2167128" cy="548640"/>
          </a:xfrm>
          <a:prstGeom prst="chevron">
            <a:avLst>
              <a:gd name="adj" fmla="val 220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2 · Stage-1 NLP</a:t>
            </a:r>
          </a:p>
        </p:txBody>
      </p:sp>
      <p:sp>
        <p:nvSpPr>
          <p:cNvPr id="914" name="Chevron 913"/>
          <p:cNvSpPr/>
          <p:nvPr/>
        </p:nvSpPr>
        <p:spPr>
          <a:xfrm>
            <a:off x="5010912" y="1188720"/>
            <a:ext cx="2167128" cy="548640"/>
          </a:xfrm>
          <a:prstGeom prst="chevron">
            <a:avLst>
              <a:gd name="adj" fmla="val 220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3 · Router</a:t>
            </a:r>
          </a:p>
        </p:txBody>
      </p:sp>
      <p:sp>
        <p:nvSpPr>
          <p:cNvPr id="915" name="Chevron 914"/>
          <p:cNvSpPr/>
          <p:nvPr/>
        </p:nvSpPr>
        <p:spPr>
          <a:xfrm>
            <a:off x="7232904" y="1188720"/>
            <a:ext cx="2167128" cy="548640"/>
          </a:xfrm>
          <a:prstGeom prst="chevron">
            <a:avLst>
              <a:gd name="adj" fmla="val 220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4 · Stage-2 LLM</a:t>
            </a:r>
          </a:p>
        </p:txBody>
      </p:sp>
      <p:sp>
        <p:nvSpPr>
          <p:cNvPr id="916" name="Chevron 915"/>
          <p:cNvSpPr/>
          <p:nvPr/>
        </p:nvSpPr>
        <p:spPr>
          <a:xfrm>
            <a:off x="9454896" y="1188720"/>
            <a:ext cx="2167128" cy="548640"/>
          </a:xfrm>
          <a:prstGeom prst="chevron">
            <a:avLst>
              <a:gd name="adj" fmla="val 220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5 · Assembler</a:t>
            </a:r>
          </a:p>
        </p:txBody>
      </p:sp>
      <p:graphicFrame>
        <p:nvGraphicFramePr>
          <p:cNvPr id="917" name="Table 916"/>
          <p:cNvGraphicFramePr>
            <a:graphicFrameLocks noGrp="1"/>
          </p:cNvGraphicFramePr>
          <p:nvPr/>
        </p:nvGraphicFramePr>
        <p:xfrm>
          <a:off x="566928" y="1901952"/>
          <a:ext cx="11055096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"/>
                <a:gridCol w="1417320"/>
                <a:gridCol w="1874520"/>
                <a:gridCol w="7379208"/>
              </a:tblGrid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FFFFFF"/>
                          </a:solidFill>
                          <a:latin typeface="Calibri"/>
                        </a:rPr>
                        <a:t>Reads stream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FFFFFF"/>
                          </a:solidFill>
                          <a:latin typeface="Calibri"/>
                        </a:rPr>
                        <a:t>Principal responsibility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3F3F3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Ingestion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ingestion:queue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Validate against the input schema, normalise Unicode and script tags, hash and deduplicate, create the job row, enqueue one message per post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3F3F3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Stage-1 NLP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nlp:stage1:queue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Cheap analysis of the caption </a:t>
                      </a:r>
                      <a:r>
                        <a:rPr sz="1050" i="0" b="1">
                          <a:solidFill>
                            <a:srgbClr val="1F497D"/>
                          </a:solidFill>
                          <a:latin typeface="Calibri"/>
                        </a:rPr>
                        <a:t>and of every comment</a:t>
                      </a: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; sentence embedding; watchlist string matching; sentiment fusion; a first summary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3F3F3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router:queue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Evaluate the six gates, set the post-level task flags, and </a:t>
                      </a:r>
                      <a:r>
                        <a:rPr sz="1050" i="0" b="1">
                          <a:solidFill>
                            <a:srgbClr val="1F497D"/>
                          </a:solidFill>
                          <a:latin typeface="Calibri"/>
                        </a:rPr>
                        <a:t>separately</a:t>
                      </a: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 select the comment set every Stage-2 voter will read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3F3F3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Stage-2 LLM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llm:stage2:queue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Two concurrent lanes: the </a:t>
                      </a:r>
                      <a:r>
                        <a:rPr sz="1050" i="0" b="1">
                          <a:solidFill>
                            <a:srgbClr val="1F497D"/>
                          </a:solidFill>
                          <a:latin typeface="Calibri"/>
                        </a:rPr>
                        <a:t>gated</a:t>
                      </a: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 post-level lane and the </a:t>
                      </a:r>
                      <a:r>
                        <a:rPr sz="1050" i="0" b="1">
                          <a:solidFill>
                            <a:srgbClr val="1F497D"/>
                          </a:solidFill>
                          <a:latin typeface="Calibri"/>
                        </a:rPr>
                        <a:t>ungated</a:t>
                      </a: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 comment ensemble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1">
                          <a:solidFill>
                            <a:srgbClr val="3F3F3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Assembler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assembler:queue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i="0" b="0">
                          <a:solidFill>
                            <a:srgbClr val="3F3F3F"/>
                          </a:solidFill>
                          <a:latin typeface="Calibri"/>
                        </a:rPr>
                        <a:t>Merge both stages, validate against the output schema, fan out to three stores in parallel, reconcile job counters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8" name="TextBox 917"/>
          <p:cNvSpPr txBox="1"/>
          <p:nvPr/>
        </p:nvSpPr>
        <p:spPr>
          <a:xfrm>
            <a:off x="566928" y="4626864"/>
            <a:ext cx="110550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i="0" b="1">
                <a:solidFill>
                  <a:srgbClr val="1F497D"/>
                </a:solidFill>
                <a:latin typeface="Calibri"/>
              </a:rPr>
              <a:t>Four behaviours implemented once in a shared worker base, so they hold at every hop</a:t>
            </a:r>
          </a:p>
        </p:txBody>
      </p:sp>
      <p:sp>
        <p:nvSpPr>
          <p:cNvPr id="919" name="Rounded Rectangle 918"/>
          <p:cNvSpPr/>
          <p:nvPr/>
        </p:nvSpPr>
        <p:spPr>
          <a:xfrm>
            <a:off x="566928" y="4919472"/>
            <a:ext cx="2640330" cy="877824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82296" bIns="82296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Consumer groups on start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Replicas </a:t>
            </a:r>
            <a:r>
              <a:rPr sz="950" i="0" b="1">
                <a:solidFill>
                  <a:srgbClr val="3F3F3F"/>
                </a:solidFill>
                <a:latin typeface="Calibri"/>
              </a:rPr>
              <a:t>split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 the stream rather than duplicating it.</a:t>
            </a:r>
          </a:p>
        </p:txBody>
      </p:sp>
      <p:sp>
        <p:nvSpPr>
          <p:cNvPr id="920" name="Rounded Rectangle 919"/>
          <p:cNvSpPr/>
          <p:nvPr/>
        </p:nvSpPr>
        <p:spPr>
          <a:xfrm>
            <a:off x="3371850" y="4919472"/>
            <a:ext cx="2640330" cy="877824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82296" bIns="82296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Cooperative cancellation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Stages ahead of the assembler drop work on a Redis flag — a stop costs </a:t>
            </a:r>
            <a:r>
              <a:rPr sz="950" i="0" b="1">
                <a:solidFill>
                  <a:srgbClr val="3F3F3F"/>
                </a:solidFill>
                <a:latin typeface="Calibri"/>
              </a:rPr>
              <a:t>one post per stage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.</a:t>
            </a:r>
          </a:p>
        </p:txBody>
      </p:sp>
      <p:sp>
        <p:nvSpPr>
          <p:cNvPr id="921" name="Rounded Rectangle 920"/>
          <p:cNvSpPr/>
          <p:nvPr/>
        </p:nvSpPr>
        <p:spPr>
          <a:xfrm>
            <a:off x="6176772" y="4919472"/>
            <a:ext cx="2640330" cy="877824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82296" bIns="82296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Bounded retry, then dead-letter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The attempt counter rides </a:t>
            </a:r>
            <a:r>
              <a:rPr sz="950" i="0" b="1">
                <a:solidFill>
                  <a:srgbClr val="3F3F3F"/>
                </a:solidFill>
                <a:latin typeface="Calibri"/>
              </a:rPr>
              <a:t>inside the payload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: a re-enqueued message would reset a per-id counter forever.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8981694" y="4919472"/>
            <a:ext cx="2640330" cy="877824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82296" bIns="82296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Replayable progress events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Pub/sub has no backlog, so events are also appended to a capped list and replayed with a </a:t>
            </a:r>
            <a:r>
              <a:rPr sz="950" i="0" b="1">
                <a:solidFill>
                  <a:srgbClr val="3F3F3F"/>
                </a:solidFill>
                <a:latin typeface="Calibri"/>
              </a:rPr>
              <a:t>monotonic sequence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The router: two independent 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3 · § 3.2.2</a:t>
            </a:r>
          </a:p>
        </p:txBody>
      </p:sp>
      <p:sp>
        <p:nvSpPr>
          <p:cNvPr id="912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13" name="Rounded Rectangle 912"/>
          <p:cNvSpPr/>
          <p:nvPr/>
        </p:nvSpPr>
        <p:spPr>
          <a:xfrm>
            <a:off x="566928" y="1170432"/>
            <a:ext cx="11055096" cy="512064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 b="0">
                <a:solidFill>
                  <a:srgbClr val="FFFFFF"/>
                </a:solidFill>
                <a:latin typeface="Calibri"/>
              </a:rPr>
              <a:t>Decision A — </a:t>
            </a:r>
            <a:r>
              <a:rPr sz="1250" i="0" b="1">
                <a:solidFill>
                  <a:srgbClr val="FFFFFF"/>
                </a:solidFill>
                <a:latin typeface="Calibri"/>
              </a:rPr>
              <a:t>does this post earn post-level LLM work?</a:t>
            </a:r>
            <a:r>
              <a:rPr sz="1250" i="0" b="0">
                <a:solidFill>
                  <a:srgbClr val="FFFFFF"/>
                </a:solidFill>
                <a:latin typeface="Calibri"/>
              </a:rPr>
              <a:t>   (six gates, any one sufficient)          Decision B — </a:t>
            </a:r>
            <a:r>
              <a:rPr sz="1250" i="0" b="1">
                <a:solidFill>
                  <a:srgbClr val="FFFFFF"/>
                </a:solidFill>
                <a:latin typeface="Calibri"/>
              </a:rPr>
              <a:t>which comments will the Stage-2 labellers read?</a:t>
            </a:r>
            <a:r>
              <a:rPr sz="1250" i="0" b="0">
                <a:solidFill>
                  <a:srgbClr val="FFFFFF"/>
                </a:solidFill>
                <a:latin typeface="Calibri"/>
              </a:rPr>
              <a:t>   (eligibility → dedup → top-N)</a:t>
            </a:r>
          </a:p>
        </p:txBody>
      </p:sp>
      <p:graphicFrame>
        <p:nvGraphicFramePr>
          <p:cNvPr id="914" name="Table 913"/>
          <p:cNvGraphicFramePr>
            <a:graphicFrameLocks noGrp="1"/>
          </p:cNvGraphicFramePr>
          <p:nvPr/>
        </p:nvGraphicFramePr>
        <p:xfrm>
          <a:off x="566928" y="1828800"/>
          <a:ext cx="6967727" cy="30358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0896"/>
                <a:gridCol w="1783080"/>
                <a:gridCol w="2404871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Fires when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Threshold knob (default)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3F3F3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Low or absent confidence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Stage-1 overall confidence is below the threshold — </a:t>
                      </a: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or is absent entirely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ROUTER_CONFIDENCE_THRESHOLD (0.8)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3F3F3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Post type unknown or weak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The semantic post type is unset, or its confidence is below the threshold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ROUTER_POST_TYPE_CONFIDENCE_THRESHOLD (0.8)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3F3F3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Caller asked for a Stage-2 summary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The request explicitly asks for the better summary model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ROUTER_SUMMARY_ROUTES (</a:t>
                      </a: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false</a:t>
                      </a: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3F3F3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Image post with no image verdict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The post carries photographs but the vision stage produced no sentiment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not applicable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3F3F3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High toxicity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The Stage-1 toxicity score exceeds the threshold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ROUTER_TOXICITY_THRESHOLD (0.7)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3F3F3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Long code-mixed text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The caption exceeds the character limit and the script is Banglish or mixed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ROUTER_LONG_TEXT_CHARS (1000)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915" name="Rounded Rectangle 914"/>
          <p:cNvSpPr/>
          <p:nvPr/>
        </p:nvSpPr>
        <p:spPr>
          <a:xfrm>
            <a:off x="7699248" y="1828800"/>
            <a:ext cx="3922776" cy="148132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Decision B — comment selection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1869B"/>
              </a:buClr>
              <a:buFont typeface="Arial"/>
              <a:buChar char="▪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Eligibility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drops kinds with no text to read: emoji-only, link-only, below a word-token floor.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1869B"/>
              </a:buClr>
              <a:buFont typeface="Arial"/>
              <a:buChar char="▪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Deduplication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sorts by reactions, ties by original index, collapses identical normalised texts.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1869B"/>
              </a:buClr>
              <a:buFont typeface="Arial"/>
              <a:buChar char="▪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Top-N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keeps the survivors; the cap defaults to 0 — every unique comment with text.</a:t>
            </a:r>
          </a:p>
        </p:txBody>
      </p:sp>
      <p:sp>
        <p:nvSpPr>
          <p:cNvPr id="916" name="Rectangle 915"/>
          <p:cNvSpPr/>
          <p:nvPr/>
        </p:nvSpPr>
        <p:spPr>
          <a:xfrm>
            <a:off x="7699248" y="1879092"/>
            <a:ext cx="68580" cy="1380744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7" name="Rounded Rectangle 916"/>
          <p:cNvSpPr/>
          <p:nvPr/>
        </p:nvSpPr>
        <p:spPr>
          <a:xfrm>
            <a:off x="7699248" y="3456432"/>
            <a:ext cx="3922776" cy="120700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Made once, read by all eight voters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An earlier design capped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inside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the LLM stance pass alone — it still ran seven classifiers over the whole thread and left the LLM column empty on exactly the comments every cheap head had voted on.</a:t>
            </a:r>
          </a:p>
        </p:txBody>
      </p:sp>
      <p:sp>
        <p:nvSpPr>
          <p:cNvPr id="918" name="Rectangle 917"/>
          <p:cNvSpPr/>
          <p:nvPr/>
        </p:nvSpPr>
        <p:spPr>
          <a:xfrm>
            <a:off x="7699248" y="3506724"/>
            <a:ext cx="68580" cy="110642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9" name="Rounded Rectangle 918"/>
          <p:cNvSpPr/>
          <p:nvPr/>
        </p:nvSpPr>
        <p:spPr>
          <a:xfrm>
            <a:off x="566928" y="4882896"/>
            <a:ext cx="11055096" cy="877824"/>
          </a:xfrm>
          <a:prstGeom prst="roundRect">
            <a:avLst>
              <a:gd name="adj" fmla="val 4500"/>
            </a:avLst>
          </a:prstGeom>
          <a:solidFill>
            <a:srgbClr val="153054"/>
          </a:solidFill>
          <a:ln w="9525">
            <a:solidFill>
              <a:srgbClr val="1530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i="0" b="1">
                <a:solidFill>
                  <a:srgbClr val="9DC3E6"/>
                </a:solidFill>
                <a:latin typeface="Calibri"/>
              </a:rPr>
              <a:t>TWO LESSONS LEARNED THE HARD WAY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An absent confidence routes.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In an earlier revision the gate read a field name Stage 1 never emitted: the guard short-circuited on every post, a confidence of exactly zero passed a threshold of 0.65, and the system routed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100 %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of posts while every document claimed a single-digit rate. The repair was to make every gate — and the diagnostic log — read through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named reader functions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, so a rename now fails a test.       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Gate 3 is off by default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, because any single gate firing is sufficient: enabled, it made the router a pass-through and pinned the large-model share at exactly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The eight-labeller comment ensemble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3 · § 3.2.3</a:t>
            </a:r>
          </a:p>
        </p:txBody>
      </p:sp>
      <p:sp>
        <p:nvSpPr>
          <p:cNvPr id="913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14" name="Rounded Rectangle 913"/>
          <p:cNvSpPr/>
          <p:nvPr/>
        </p:nvSpPr>
        <p:spPr>
          <a:xfrm>
            <a:off x="566928" y="1444752"/>
            <a:ext cx="1047641" cy="713232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1">
                <a:solidFill>
                  <a:srgbClr val="1F497D"/>
                </a:solidFill>
                <a:latin typeface="Calibri"/>
              </a:rPr>
              <a:t>XLM-R
multilingual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1706009" y="1444752"/>
            <a:ext cx="1047641" cy="713232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1">
                <a:solidFill>
                  <a:srgbClr val="1F497D"/>
                </a:solidFill>
                <a:latin typeface="Calibri"/>
              </a:rPr>
              <a:t>mBERT
sentiment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2845090" y="1444752"/>
            <a:ext cx="1047641" cy="713232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1">
                <a:solidFill>
                  <a:srgbClr val="1F497D"/>
                </a:solidFill>
                <a:latin typeface="Calibri"/>
              </a:rPr>
              <a:t>BanglaBERT
(SentNoB)</a:t>
            </a:r>
          </a:p>
        </p:txBody>
      </p:sp>
      <p:sp>
        <p:nvSpPr>
          <p:cNvPr id="917" name="Rounded Rectangle 916"/>
          <p:cNvSpPr/>
          <p:nvPr/>
        </p:nvSpPr>
        <p:spPr>
          <a:xfrm>
            <a:off x="3984171" y="1444752"/>
            <a:ext cx="1047641" cy="713232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1">
                <a:solidFill>
                  <a:srgbClr val="1F497D"/>
                </a:solidFill>
                <a:latin typeface="Calibri"/>
              </a:rPr>
              <a:t>BanglaBERT
fine-tune</a:t>
            </a:r>
          </a:p>
        </p:txBody>
      </p:sp>
      <p:sp>
        <p:nvSpPr>
          <p:cNvPr id="918" name="Rounded Rectangle 917"/>
          <p:cNvSpPr/>
          <p:nvPr/>
        </p:nvSpPr>
        <p:spPr>
          <a:xfrm>
            <a:off x="5123252" y="1444752"/>
            <a:ext cx="1047641" cy="713232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1">
                <a:solidFill>
                  <a:srgbClr val="1F497D"/>
                </a:solidFill>
                <a:latin typeface="Calibri"/>
              </a:rPr>
              <a:t>ModernBERT</a:t>
            </a:r>
          </a:p>
        </p:txBody>
      </p:sp>
      <p:sp>
        <p:nvSpPr>
          <p:cNvPr id="919" name="Rounded Rectangle 918"/>
          <p:cNvSpPr/>
          <p:nvPr/>
        </p:nvSpPr>
        <p:spPr>
          <a:xfrm>
            <a:off x="6262333" y="1444752"/>
            <a:ext cx="1047641" cy="713232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1">
                <a:solidFill>
                  <a:srgbClr val="1F497D"/>
                </a:solidFill>
                <a:latin typeface="Calibri"/>
              </a:rPr>
              <a:t>Twitter-XLM
sentiment</a:t>
            </a:r>
          </a:p>
        </p:txBody>
      </p:sp>
      <p:sp>
        <p:nvSpPr>
          <p:cNvPr id="920" name="Rounded Rectangle 919"/>
          <p:cNvSpPr/>
          <p:nvPr/>
        </p:nvSpPr>
        <p:spPr>
          <a:xfrm>
            <a:off x="7401414" y="1444752"/>
            <a:ext cx="1047641" cy="713232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1">
                <a:solidFill>
                  <a:srgbClr val="1F497D"/>
                </a:solidFill>
                <a:latin typeface="Calibri"/>
              </a:rPr>
              <a:t>Emoji &amp;
lexicon rule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566928" y="1188720"/>
            <a:ext cx="788212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4F81BD"/>
                </a:solidFill>
                <a:latin typeface="Calibri"/>
              </a:rPr>
              <a:t>Seven small heads — batched on CPU, no per-token cost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8613648" y="1188720"/>
            <a:ext cx="3008376" cy="969264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One context-aware LLM stance pass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D6E4F2"/>
                </a:solidFill>
                <a:latin typeface="Calibri"/>
              </a:rPr>
              <a:t>The only labeller that sees the parent post — and therefore the only one judging stance </a:t>
            </a:r>
            <a:r>
              <a:rPr sz="950" i="1" b="0">
                <a:solidFill>
                  <a:srgbClr val="D6E4F2"/>
                </a:solidFill>
                <a:latin typeface="Calibri"/>
              </a:rPr>
              <a:t>toward</a:t>
            </a:r>
            <a:r>
              <a:rPr sz="950" i="0" b="0">
                <a:solidFill>
                  <a:srgbClr val="D6E4F2"/>
                </a:solidFill>
                <a:latin typeface="Calibri"/>
              </a:rPr>
              <a:t> it rather than the comment's own tone.</a:t>
            </a:r>
          </a:p>
        </p:txBody>
      </p:sp>
      <p:sp>
        <p:nvSpPr>
          <p:cNvPr id="923" name="Rounded Rectangle 922"/>
          <p:cNvSpPr/>
          <p:nvPr/>
        </p:nvSpPr>
        <p:spPr>
          <a:xfrm>
            <a:off x="566928" y="2304288"/>
            <a:ext cx="11055096" cy="603504"/>
          </a:xfrm>
          <a:prstGeom prst="roundRect">
            <a:avLst>
              <a:gd name="adj" fmla="val 4500"/>
            </a:avLst>
          </a:prstGeom>
          <a:solidFill>
            <a:srgbClr val="C55A11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 b="1">
                <a:solidFill>
                  <a:srgbClr val="FFFFFF"/>
                </a:solidFill>
                <a:latin typeface="Calibri"/>
              </a:rPr>
              <a:t>Abstention protocol —</a:t>
            </a:r>
            <a:r>
              <a:rPr sz="1200" i="0" b="0">
                <a:solidFill>
                  <a:srgbClr val="FFFFFF"/>
                </a:solidFill>
                <a:latin typeface="Calibri"/>
              </a:rPr>
              <a:t> a labeller that cannot answer is </a:t>
            </a:r>
            <a:r>
              <a:rPr sz="1200" i="0" b="1">
                <a:solidFill>
                  <a:srgbClr val="FFFFFF"/>
                </a:solidFill>
                <a:latin typeface="Calibri"/>
              </a:rPr>
              <a:t>absent</a:t>
            </a:r>
            <a:r>
              <a:rPr sz="1200" i="0" b="0">
                <a:solidFill>
                  <a:srgbClr val="FFFFFF"/>
                </a:solidFill>
                <a:latin typeface="Calibri"/>
              </a:rPr>
              <a:t> from the vote, not present in it with a fabricated neutral. Every comment carries the number of voters that actually spoke; a comment no model read reports as </a:t>
            </a:r>
            <a:r>
              <a:rPr sz="1200" i="0" b="1">
                <a:solidFill>
                  <a:srgbClr val="FFFFFF"/>
                </a:solidFill>
                <a:latin typeface="Calibri"/>
              </a:rPr>
              <a:t>uncertain at zero voters</a:t>
            </a:r>
            <a:r>
              <a:rPr sz="1200" i="0" b="0">
                <a:solidFill>
                  <a:srgbClr val="FFFFFF"/>
                </a:solidFill>
                <a:latin typeface="Calibri"/>
              </a:rPr>
              <a:t>, never as neutral.</a:t>
            </a:r>
          </a:p>
        </p:txBody>
      </p:sp>
      <p:sp>
        <p:nvSpPr>
          <p:cNvPr id="924" name="Rounded Rectangle 923"/>
          <p:cNvSpPr/>
          <p:nvPr/>
        </p:nvSpPr>
        <p:spPr>
          <a:xfrm>
            <a:off x="566928" y="3054096"/>
            <a:ext cx="5349240" cy="138988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Combined polarity over the labellers that spoke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600" i="0" b="1">
                <a:solidFill>
                  <a:srgbClr val="1F497D"/>
                </a:solidFill>
                <a:latin typeface="Cambria Math"/>
              </a:rPr>
              <a:t>s(c)  =  ( 1 / nᶜ )  ·  Σ  wᵢ · vᵢ(c)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3F3F3F"/>
                </a:solidFill>
                <a:latin typeface="Calibri"/>
              </a:rPr>
              <a:t>The sum runs over the nᶜ labellers in V(c) that returned a verdict; vᵢ(c) ∈ {−1, 0, +1}, with the weights renormalised so s(c) stays in [−1, +1] however many labellers abstained.</a:t>
            </a:r>
          </a:p>
        </p:txBody>
      </p:sp>
      <p:sp>
        <p:nvSpPr>
          <p:cNvPr id="925" name="Rounded Rectangle 924"/>
          <p:cNvSpPr/>
          <p:nvPr/>
        </p:nvSpPr>
        <p:spPr>
          <a:xfrm>
            <a:off x="6272784" y="3054096"/>
            <a:ext cx="5349240" cy="138988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What the operator sees, per comment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1869B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The fused label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and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the eight per-source verdicts side by side, the agreement fraction, the voter count, the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method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that actually ran and the comment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kind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(emoji · short · substantive).</a:t>
            </a:r>
          </a:p>
        </p:txBody>
      </p:sp>
      <p:sp>
        <p:nvSpPr>
          <p:cNvPr id="926" name="Rectangle 925"/>
          <p:cNvSpPr/>
          <p:nvPr/>
        </p:nvSpPr>
        <p:spPr>
          <a:xfrm>
            <a:off x="6272784" y="3104388"/>
            <a:ext cx="68580" cy="1289304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7" name="Rounded Rectangle 926"/>
          <p:cNvSpPr/>
          <p:nvPr/>
        </p:nvSpPr>
        <p:spPr>
          <a:xfrm>
            <a:off x="566928" y="4663440"/>
            <a:ext cx="11055096" cy="1097280"/>
          </a:xfrm>
          <a:prstGeom prst="roundRect">
            <a:avLst>
              <a:gd name="adj" fmla="val 4500"/>
            </a:avLst>
          </a:prstGeom>
          <a:solidFill>
            <a:srgbClr val="153054"/>
          </a:solidFill>
          <a:ln w="9525">
            <a:solidFill>
              <a:srgbClr val="1530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0">
                <a:solidFill>
                  <a:srgbClr val="FFFFFF"/>
                </a:solidFill>
                <a:latin typeface="Calibri"/>
              </a:rPr>
              <a:t>Why eight rather than one — a fused single label makes a member model that failed to load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unfalsifiable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: it is silently replaced by a default and the reported agreement stops meaning anything. Showing the roster is what makes the number checkable [50].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Watchlist target stance, and the agentic insight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3 · § 3.2.4 – 3.2.6</a:t>
            </a:r>
          </a:p>
        </p:txBody>
      </p:sp>
      <p:sp>
        <p:nvSpPr>
          <p:cNvPr id="914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15" name="Rounded Rectangle 914"/>
          <p:cNvSpPr/>
          <p:nvPr/>
        </p:nvSpPr>
        <p:spPr>
          <a:xfrm>
            <a:off x="566928" y="1170432"/>
            <a:ext cx="5349240" cy="2084831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Watchlist-driven target stance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215968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An operator-supplied,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versioned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entity list; the matcher is built for the three-script spelling problem — Bangla script, several inconsistent romanizations, and English.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215968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Per-entity verdicts land in a field kept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separate from document sentiment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, and are never summed or charted with it.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215968"/>
              </a:buClr>
              <a:buFont typeface="Arial"/>
              <a:buChar char="▪"/>
            </a:pPr>
            <a:r>
              <a:rPr sz="1100" i="0" b="1">
                <a:solidFill>
                  <a:srgbClr val="3F3F3F"/>
                </a:solidFill>
                <a:latin typeface="Calibri"/>
              </a:rPr>
              <a:t>Zero additional LLM calls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— matched entities ride inside a prompt that is already being sent.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215968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A target matching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zero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comments is logged as the probable coverage bug it almost certainly is.</a:t>
            </a:r>
          </a:p>
        </p:txBody>
      </p:sp>
      <p:sp>
        <p:nvSpPr>
          <p:cNvPr id="916" name="Rectangle 915"/>
          <p:cNvSpPr/>
          <p:nvPr/>
        </p:nvSpPr>
        <p:spPr>
          <a:xfrm>
            <a:off x="566928" y="1220724"/>
            <a:ext cx="68580" cy="1984248"/>
          </a:xfrm>
          <a:prstGeom prst="rect">
            <a:avLst/>
          </a:prstGeom>
          <a:solidFill>
            <a:srgbClr val="215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7" name="Rounded Rectangle 916"/>
          <p:cNvSpPr/>
          <p:nvPr/>
        </p:nvSpPr>
        <p:spPr>
          <a:xfrm>
            <a:off x="6272784" y="1170432"/>
            <a:ext cx="5349240" cy="2084831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Nine agents over eighteen typed MCP tools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Three Model Context Protocol servers [38] expose the system's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own structured analytics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— not raw text — as typed tools.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Agents run a ReAct-style loop [36] under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per-run tool and token budgets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, outside the per-post path.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Briefing, stance, theme, anomaly and comparison agents all read the same persisted analysis the dashboard shows.</a:t>
            </a:r>
          </a:p>
        </p:txBody>
      </p:sp>
      <p:sp>
        <p:nvSpPr>
          <p:cNvPr id="918" name="Rectangle 917"/>
          <p:cNvSpPr/>
          <p:nvPr/>
        </p:nvSpPr>
        <p:spPr>
          <a:xfrm>
            <a:off x="6272784" y="1220724"/>
            <a:ext cx="68580" cy="198424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9" name="TextBox 918"/>
          <p:cNvSpPr txBox="1"/>
          <p:nvPr/>
        </p:nvSpPr>
        <p:spPr>
          <a:xfrm>
            <a:off x="566928" y="3401568"/>
            <a:ext cx="110550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i="0" b="1">
                <a:solidFill>
                  <a:srgbClr val="1F497D"/>
                </a:solidFill>
                <a:latin typeface="Calibri"/>
              </a:rPr>
              <a:t>The runner is hardened against failure modes observed in live runs — each one now pinned by a regression test</a:t>
            </a:r>
          </a:p>
        </p:txBody>
      </p:sp>
      <p:sp>
        <p:nvSpPr>
          <p:cNvPr id="920" name="Rounded Rectangle 919"/>
          <p:cNvSpPr/>
          <p:nvPr/>
        </p:nvSpPr>
        <p:spPr>
          <a:xfrm>
            <a:off x="566928" y="3675888"/>
            <a:ext cx="2640330" cy="914400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82296" bIns="82296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Untrusted-data delimiters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Tool results are wrapped, with </a:t>
            </a:r>
            <a:r>
              <a:rPr sz="950" i="0" b="1">
                <a:solidFill>
                  <a:srgbClr val="3F3F3F"/>
                </a:solidFill>
                <a:latin typeface="Calibri"/>
              </a:rPr>
              <a:t>forged delimiters neutralised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 before the model sees them [43].</a:t>
            </a:r>
          </a:p>
        </p:txBody>
      </p:sp>
      <p:sp>
        <p:nvSpPr>
          <p:cNvPr id="921" name="Rounded Rectangle 920"/>
          <p:cNvSpPr/>
          <p:nvPr/>
        </p:nvSpPr>
        <p:spPr>
          <a:xfrm>
            <a:off x="3371850" y="3675888"/>
            <a:ext cx="2640330" cy="914400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82296" bIns="82296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Citation verification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Every citation is checked against </a:t>
            </a:r>
            <a:r>
              <a:rPr sz="950" i="0" b="1">
                <a:solidFill>
                  <a:srgbClr val="3F3F3F"/>
                </a:solidFill>
                <a:latin typeface="Calibri"/>
              </a:rPr>
              <a:t>what the model was actually shown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, not against the corpus.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6176772" y="3675888"/>
            <a:ext cx="2640330" cy="914400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82296" bIns="82296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Non-answer rejection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Four distinct shapes of answer-that-answers-nothing are detected and refused.</a:t>
            </a:r>
          </a:p>
        </p:txBody>
      </p:sp>
      <p:sp>
        <p:nvSpPr>
          <p:cNvPr id="923" name="Rounded Rectangle 922"/>
          <p:cNvSpPr/>
          <p:nvPr/>
        </p:nvSpPr>
        <p:spPr>
          <a:xfrm>
            <a:off x="8981694" y="3675888"/>
            <a:ext cx="2640330" cy="914400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82296" bIns="82296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Repeat-call and budget guards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Byte-identical repeat tool calls are refused; every run is bounded in tools and tokens.</a:t>
            </a:r>
          </a:p>
        </p:txBody>
      </p:sp>
      <p:sp>
        <p:nvSpPr>
          <p:cNvPr id="924" name="Rounded Rectangle 923"/>
          <p:cNvSpPr/>
          <p:nvPr/>
        </p:nvSpPr>
        <p:spPr>
          <a:xfrm>
            <a:off x="566928" y="4791456"/>
            <a:ext cx="11055096" cy="969264"/>
          </a:xfrm>
          <a:prstGeom prst="roundRect">
            <a:avLst>
              <a:gd name="adj" fmla="val 4500"/>
            </a:avLst>
          </a:prstGeom>
          <a:solidFill>
            <a:srgbClr val="153054"/>
          </a:solidFill>
          <a:ln w="9525">
            <a:solidFill>
              <a:srgbClr val="1530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i="0" b="1">
                <a:solidFill>
                  <a:srgbClr val="9DC3E6"/>
                </a:solidFill>
                <a:latin typeface="Calibri"/>
              </a:rPr>
              <a:t>WHAT THE HARDENING IS, AND IS NOT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0">
                <a:solidFill>
                  <a:srgbClr val="FFFFFF"/>
                </a:solidFill>
                <a:latin typeface="Calibri"/>
              </a:rPr>
              <a:t>A briefing that quoted invented tables was caught by this layer and is reported in the walkthrough: the agent had retrieved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nothing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, and the run record proved it. Groundedness and citation accuracy are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hardened and tested, but not scored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— they sit at </a:t>
            </a:r>
            <a:r>
              <a:rPr sz="1150" i="1" b="0">
                <a:solidFill>
                  <a:srgbClr val="FFFFFF"/>
                </a:solidFill>
                <a:latin typeface="Calibri"/>
              </a:rPr>
              <a:t>works, unmeasured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in the evidence ledger, and the scoring programme is future work F7.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Results — verification of the whole chain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4 · § 4.2.2</a:t>
            </a:r>
          </a:p>
        </p:txBody>
      </p:sp>
      <p:sp>
        <p:nvSpPr>
          <p:cNvPr id="915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16" name="Rounded Rectangle 915"/>
          <p:cNvSpPr/>
          <p:nvPr/>
        </p:nvSpPr>
        <p:spPr>
          <a:xfrm>
            <a:off x="566928" y="1188720"/>
            <a:ext cx="2066543" cy="859536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2296" bIns="8229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2400" i="0" b="1">
                <a:solidFill>
                  <a:srgbClr val="FFFFFF"/>
                </a:solidFill>
                <a:latin typeface="Calibri"/>
              </a:rPr>
              <a:t>1,420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D6E4F2"/>
                </a:solidFill>
                <a:latin typeface="Calibri"/>
              </a:rPr>
              <a:t>Python tests</a:t>
            </a:r>
          </a:p>
        </p:txBody>
      </p:sp>
      <p:sp>
        <p:nvSpPr>
          <p:cNvPr id="917" name="Rounded Rectangle 916"/>
          <p:cNvSpPr/>
          <p:nvPr/>
        </p:nvSpPr>
        <p:spPr>
          <a:xfrm>
            <a:off x="2807208" y="1188720"/>
            <a:ext cx="2066543" cy="859536"/>
          </a:xfrm>
          <a:prstGeom prst="roundRect">
            <a:avLst>
              <a:gd name="adj" fmla="val 4500"/>
            </a:avLst>
          </a:prstGeom>
          <a:solidFill>
            <a:srgbClr val="215968"/>
          </a:solidFill>
          <a:ln w="9525">
            <a:solidFill>
              <a:srgbClr val="2159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2296" bIns="8229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2400" i="0" b="1">
                <a:solidFill>
                  <a:srgbClr val="FFFFFF"/>
                </a:solidFill>
                <a:latin typeface="Calibri"/>
              </a:rPr>
              <a:t>96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D6E4F2"/>
                </a:solidFill>
                <a:latin typeface="Calibri"/>
              </a:rPr>
              <a:t>dashboard unit tests</a:t>
            </a:r>
          </a:p>
        </p:txBody>
      </p:sp>
      <p:sp>
        <p:nvSpPr>
          <p:cNvPr id="918" name="Rounded Rectangle 917"/>
          <p:cNvSpPr/>
          <p:nvPr/>
        </p:nvSpPr>
        <p:spPr>
          <a:xfrm>
            <a:off x="5047488" y="1188720"/>
            <a:ext cx="2066543" cy="859536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2296" bIns="8229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2400" i="0" b="1">
                <a:solidFill>
                  <a:srgbClr val="FFFFFF"/>
                </a:solidFill>
                <a:latin typeface="Calibri"/>
              </a:rPr>
              <a:t>138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D6E4F2"/>
                </a:solidFill>
                <a:latin typeface="Calibri"/>
              </a:rPr>
              <a:t>security tests · 8 suites</a:t>
            </a:r>
          </a:p>
        </p:txBody>
      </p:sp>
      <p:sp>
        <p:nvSpPr>
          <p:cNvPr id="919" name="Rounded Rectangle 918"/>
          <p:cNvSpPr/>
          <p:nvPr/>
        </p:nvSpPr>
        <p:spPr>
          <a:xfrm>
            <a:off x="7287768" y="1188720"/>
            <a:ext cx="2066543" cy="859536"/>
          </a:xfrm>
          <a:prstGeom prst="roundRect">
            <a:avLst>
              <a:gd name="adj" fmla="val 4500"/>
            </a:avLst>
          </a:prstGeom>
          <a:solidFill>
            <a:srgbClr val="215968"/>
          </a:solidFill>
          <a:ln w="9525">
            <a:solidFill>
              <a:srgbClr val="2159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2296" bIns="8229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2400" i="0" b="1">
                <a:solidFill>
                  <a:srgbClr val="FFFFFF"/>
                </a:solidFill>
                <a:latin typeface="Calibri"/>
              </a:rPr>
              <a:t>73 s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D6E4F2"/>
                </a:solidFill>
                <a:latin typeface="Calibri"/>
              </a:rPr>
              <a:t>whole chain, one command</a:t>
            </a:r>
          </a:p>
        </p:txBody>
      </p:sp>
      <p:sp>
        <p:nvSpPr>
          <p:cNvPr id="920" name="Rounded Rectangle 919"/>
          <p:cNvSpPr/>
          <p:nvPr/>
        </p:nvSpPr>
        <p:spPr>
          <a:xfrm>
            <a:off x="9528048" y="1188720"/>
            <a:ext cx="2066543" cy="859536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2296" bIns="8229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2400" i="0" b="1">
                <a:solidFill>
                  <a:srgbClr val="FFFFFF"/>
                </a:solidFill>
                <a:latin typeface="Calibri"/>
              </a:rPr>
              <a:t>51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D6E4F2"/>
                </a:solidFill>
                <a:latin typeface="Calibri"/>
              </a:rPr>
              <a:t>documented API paths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566928" y="2231136"/>
            <a:ext cx="110550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i="0" b="1">
                <a:solidFill>
                  <a:srgbClr val="1F497D"/>
                </a:solidFill>
                <a:latin typeface="Calibri"/>
              </a:rPr>
              <a:t>Three layers, because the failures that dominated this project are not failures a person notices by looking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566928" y="2505456"/>
            <a:ext cx="3550920" cy="1737360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Contract tests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Assert that the JSON crossing every boundary validates against its schema — and several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grep the source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to assert structural invariants: that every worker checks the cancellation flag, that the dashboard reads only fields the API returns, that the autoscaler manifests name exactly the streams the workers create.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They fail on a rename, which is their purpose.</a:t>
            </a:r>
          </a:p>
        </p:txBody>
      </p:sp>
      <p:sp>
        <p:nvSpPr>
          <p:cNvPr id="923" name="Rectangle 922"/>
          <p:cNvSpPr/>
          <p:nvPr/>
        </p:nvSpPr>
        <p:spPr>
          <a:xfrm>
            <a:off x="566928" y="2555748"/>
            <a:ext cx="68580" cy="1636775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4" name="Rounded Rectangle 923"/>
          <p:cNvSpPr/>
          <p:nvPr/>
        </p:nvSpPr>
        <p:spPr>
          <a:xfrm>
            <a:off x="4319016" y="2505456"/>
            <a:ext cx="3550920" cy="1737360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Regression tests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215968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Pin every defect found in the six audit passes, so a repaired defect that returns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fails the build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. Eight distinct agent-runner failure modes and four silent-degradation defects each have one.</a:t>
            </a:r>
          </a:p>
        </p:txBody>
      </p:sp>
      <p:sp>
        <p:nvSpPr>
          <p:cNvPr id="925" name="Rectangle 924"/>
          <p:cNvSpPr/>
          <p:nvPr/>
        </p:nvSpPr>
        <p:spPr>
          <a:xfrm>
            <a:off x="4319016" y="2555748"/>
            <a:ext cx="68580" cy="1636775"/>
          </a:xfrm>
          <a:prstGeom prst="rect">
            <a:avLst/>
          </a:prstGeom>
          <a:solidFill>
            <a:srgbClr val="215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6" name="Rounded Rectangle 925"/>
          <p:cNvSpPr/>
          <p:nvPr/>
        </p:nvSpPr>
        <p:spPr>
          <a:xfrm>
            <a:off x="8071104" y="2505456"/>
            <a:ext cx="3550920" cy="1737360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Datastore tests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Run against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throwaway PostgreSQL and Redis containers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started per session, so a default run can never damage a developer's environment; two heavier suites sit behind explicit markers.</a:t>
            </a:r>
          </a:p>
        </p:txBody>
      </p:sp>
      <p:sp>
        <p:nvSpPr>
          <p:cNvPr id="927" name="Rectangle 926"/>
          <p:cNvSpPr/>
          <p:nvPr/>
        </p:nvSpPr>
        <p:spPr>
          <a:xfrm>
            <a:off x="8071104" y="2555748"/>
            <a:ext cx="68580" cy="1636775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8" name="Rounded Rectangle 927"/>
          <p:cNvSpPr/>
          <p:nvPr/>
        </p:nvSpPr>
        <p:spPr>
          <a:xfrm>
            <a:off x="566928" y="4443984"/>
            <a:ext cx="11055096" cy="658368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0">
                <a:solidFill>
                  <a:srgbClr val="FFFFFF"/>
                </a:solidFill>
                <a:latin typeface="Calibri"/>
              </a:rPr>
              <a:t>Access control is tested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separately from function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, because the two fail differently: token issue and verification, the hashed API-key store, single-use streaming tickets, cross-tenant reads, the fail-closed residency policy and prompt-injection containment — against both the permitted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and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the refused case in each.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566928" y="5230368"/>
            <a:ext cx="110550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 b="1">
                <a:solidFill>
                  <a:srgbClr val="C55A11"/>
                </a:solidFill>
                <a:latin typeface="Calibri"/>
              </a:rPr>
              <a:t>A green suite is not a quality claim — and this report does not use it as one. These are </a:t>
            </a:r>
            <a:r>
              <a:rPr sz="1200" i="0" b="1">
                <a:solidFill>
                  <a:srgbClr val="C55A11"/>
                </a:solidFill>
                <a:latin typeface="Calibri"/>
              </a:rPr>
              <a:t>correctness and contract</a:t>
            </a:r>
            <a:r>
              <a:rPr sz="1200" i="0" b="1">
                <a:solidFill>
                  <a:srgbClr val="C55A11"/>
                </a:solidFill>
                <a:latin typeface="Calibri"/>
              </a:rPr>
              <a:t> tests; what they buy is that a claim in this report which stopped being true would break a test.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Results — routing behaviour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4 · § 4.2.4</a:t>
            </a:r>
          </a:p>
        </p:txBody>
      </p:sp>
      <p:sp>
        <p:nvSpPr>
          <p:cNvPr id="916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17" name="TextBox 916"/>
          <p:cNvSpPr txBox="1"/>
          <p:nvPr/>
        </p:nvSpPr>
        <p:spPr>
          <a:xfrm>
            <a:off x="566928" y="1170432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Posts routed for post-level LLM work, by Stage-1 engine</a:t>
            </a:r>
          </a:p>
        </p:txBody>
      </p:sp>
      <p:graphicFrame>
        <p:nvGraphicFramePr>
          <p:cNvPr id="918" name="Chart 917"/>
          <p:cNvGraphicFramePr>
            <a:graphicFrameLocks noGrp="1"/>
          </p:cNvGraphicFramePr>
          <p:nvPr/>
        </p:nvGraphicFramePr>
        <p:xfrm>
          <a:off x="438912" y="1426464"/>
          <a:ext cx="5486400" cy="21579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19" name="Table 918"/>
          <p:cNvGraphicFramePr>
            <a:graphicFrameLocks noGrp="1"/>
          </p:cNvGraphicFramePr>
          <p:nvPr/>
        </p:nvGraphicFramePr>
        <p:xfrm>
          <a:off x="6272784" y="1426464"/>
          <a:ext cx="5349240" cy="24368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6120"/>
                <a:gridCol w="1051560"/>
                <a:gridCol w="105156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Keyword stub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As shipped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Posts routed for post-level work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32 of 43  (74 %)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7 of 43  (16 %)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Post-level calls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124  (15.3 %)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22  (4.2 %)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Comment-level calls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689  (84.7 %)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507  (95.8 %)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   · Stage-1 labelling — all 43 posts, the gate cannot reduce it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368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368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   · Stage-2 comment stance — routed posts only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321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Total calls per corpus run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813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529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Share of all calls the gate governs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54.7 %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30.4 %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0" name="Rounded Rectangle 919"/>
          <p:cNvSpPr/>
          <p:nvPr/>
        </p:nvSpPr>
        <p:spPr>
          <a:xfrm>
            <a:off x="566928" y="3785615"/>
            <a:ext cx="11055096" cy="786384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i="0" b="1">
                <a:solidFill>
                  <a:srgbClr val="9DC3E6"/>
                </a:solidFill>
                <a:latin typeface="Calibri"/>
              </a:rPr>
              <a:t>READING THE CHART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0">
                <a:solidFill>
                  <a:srgbClr val="FFFFFF"/>
                </a:solidFill>
                <a:latin typeface="Calibri"/>
              </a:rPr>
              <a:t>Identical router code, identical corpus, identical thresholds —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only the Stage-1 engine differs.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The keyword stub confidently types 27 of 43 posts and escalates the remaining 74 %; the LLM Stage 1 types 42 of 43 and escalates 16 %. So the routing rate measures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Stage-1 quality, not cost efficiency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— a rising rate should be alerted on as a quality regression.</a:t>
            </a:r>
          </a:p>
        </p:txBody>
      </p:sp>
      <p:sp>
        <p:nvSpPr>
          <p:cNvPr id="921" name="Rounded Rectangle 920"/>
          <p:cNvSpPr/>
          <p:nvPr/>
        </p:nvSpPr>
        <p:spPr>
          <a:xfrm>
            <a:off x="566928" y="4700016"/>
            <a:ext cx="5349240" cy="1060704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The gate selects the right posts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F7D5A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The 7 routed posts hold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3,404 of the 8,713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comments that reach a model — the gate escalates the large, contentious threads, which a routing rate quoted on its own cannot show.</a:t>
            </a:r>
          </a:p>
        </p:txBody>
      </p:sp>
      <p:sp>
        <p:nvSpPr>
          <p:cNvPr id="922" name="Rectangle 921"/>
          <p:cNvSpPr/>
          <p:nvPr/>
        </p:nvSpPr>
        <p:spPr>
          <a:xfrm>
            <a:off x="566928" y="4750307"/>
            <a:ext cx="68580" cy="960119"/>
          </a:xfrm>
          <a:prstGeom prst="rect">
            <a:avLst/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3" name="Rounded Rectangle 922"/>
          <p:cNvSpPr/>
          <p:nvPr/>
        </p:nvSpPr>
        <p:spPr>
          <a:xfrm>
            <a:off x="6272784" y="4700016"/>
            <a:ext cx="5349240" cy="1060704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One earlier estimate was off by 6×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Filtering emoji-only comments was expected to save ~17 % of the comment bill. They are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2.8 %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of the corpus; the 17 % was the share taking the </a:t>
            </a:r>
            <a:r>
              <a:rPr sz="1100" i="1" b="0">
                <a:solidFill>
                  <a:srgbClr val="3F3F3F"/>
                </a:solidFill>
                <a:latin typeface="Calibri"/>
              </a:rPr>
              <a:t>fast path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. Still correct to filter — but not a cost lever.</a:t>
            </a:r>
          </a:p>
        </p:txBody>
      </p:sp>
      <p:sp>
        <p:nvSpPr>
          <p:cNvPr id="924" name="Rectangle 923"/>
          <p:cNvSpPr/>
          <p:nvPr/>
        </p:nvSpPr>
        <p:spPr>
          <a:xfrm>
            <a:off x="6272784" y="4750307"/>
            <a:ext cx="68580" cy="960119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Results — where the large-model calls actually go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4 · § 4.2.4</a:t>
            </a:r>
          </a:p>
        </p:txBody>
      </p:sp>
      <p:sp>
        <p:nvSpPr>
          <p:cNvPr id="917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graphicFrame>
        <p:nvGraphicFramePr>
          <p:cNvPr id="918" name="Chart 917"/>
          <p:cNvGraphicFramePr>
            <a:graphicFrameLocks noGrp="1"/>
          </p:cNvGraphicFramePr>
          <p:nvPr/>
        </p:nvGraphicFramePr>
        <p:xfrm>
          <a:off x="438912" y="1188720"/>
          <a:ext cx="6583680" cy="24871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19" name="Rounded Rectangle 918"/>
          <p:cNvSpPr/>
          <p:nvPr/>
        </p:nvSpPr>
        <p:spPr>
          <a:xfrm>
            <a:off x="7223760" y="1188720"/>
            <a:ext cx="4398264" cy="129844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0584" bIns="10058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Share of spend the gate governs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mbria Math"/>
              </a:rPr>
              <a:t>γ  =  C_gated  /  ( C_gated + C_comment )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00" i="0" b="0">
                <a:solidFill>
                  <a:srgbClr val="3F3F3F"/>
                </a:solidFill>
                <a:latin typeface="Calibri"/>
              </a:rPr>
              <a:t>C_gated counts the calls the gate releases; C_comment counts the per-comment calls, which run for every post whether the gate routed it or not.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1F497D"/>
                </a:solidFill>
                <a:latin typeface="Calibri"/>
              </a:rPr>
              <a:t>Measured:  </a:t>
            </a:r>
            <a:r>
              <a:rPr sz="1050" i="0" b="1">
                <a:solidFill>
                  <a:srgbClr val="1F497D"/>
                </a:solidFill>
                <a:latin typeface="Calibri"/>
              </a:rPr>
              <a:t>γ = 0.304</a:t>
            </a:r>
            <a:r>
              <a:rPr sz="1050" i="0" b="0">
                <a:solidFill>
                  <a:srgbClr val="1F497D"/>
                </a:solidFill>
                <a:latin typeface="Calibri"/>
              </a:rPr>
              <a:t> as shipped,  </a:t>
            </a:r>
            <a:r>
              <a:rPr sz="1050" i="0" b="1">
                <a:solidFill>
                  <a:srgbClr val="1F497D"/>
                </a:solidFill>
                <a:latin typeface="Calibri"/>
              </a:rPr>
              <a:t>γ = 0.547</a:t>
            </a:r>
            <a:r>
              <a:rPr sz="1050" i="0" b="0">
                <a:solidFill>
                  <a:srgbClr val="1F497D"/>
                </a:solidFill>
                <a:latin typeface="Calibri"/>
              </a:rPr>
              <a:t> under the keyword baseline.</a:t>
            </a:r>
          </a:p>
        </p:txBody>
      </p:sp>
      <p:sp>
        <p:nvSpPr>
          <p:cNvPr id="920" name="Rounded Rectangle 919"/>
          <p:cNvSpPr/>
          <p:nvPr/>
        </p:nvSpPr>
        <p:spPr>
          <a:xfrm>
            <a:off x="7223760" y="2615184"/>
            <a:ext cx="4398264" cy="1060704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The middle pair of bars is the finding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Stage-1 comment labelling runs for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every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post whether the gate routed it or not, so it is identical in both configurations — the routing gate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cannot reduce it at all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.</a:t>
            </a:r>
          </a:p>
        </p:txBody>
      </p:sp>
      <p:sp>
        <p:nvSpPr>
          <p:cNvPr id="921" name="Rectangle 920"/>
          <p:cNvSpPr/>
          <p:nvPr/>
        </p:nvSpPr>
        <p:spPr>
          <a:xfrm>
            <a:off x="7223760" y="2665476"/>
            <a:ext cx="68580" cy="960119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2" name="Rounded Rectangle 921"/>
          <p:cNvSpPr/>
          <p:nvPr/>
        </p:nvSpPr>
        <p:spPr>
          <a:xfrm>
            <a:off x="566928" y="3675887"/>
            <a:ext cx="11055096" cy="969264"/>
          </a:xfrm>
          <a:prstGeom prst="roundRect">
            <a:avLst>
              <a:gd name="adj" fmla="val 4500"/>
            </a:avLst>
          </a:prstGeom>
          <a:solidFill>
            <a:srgbClr val="B03A2E"/>
          </a:solidFill>
          <a:ln w="9525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i="0" b="1">
                <a:solidFill>
                  <a:srgbClr val="9DC3E6"/>
                </a:solidFill>
                <a:latin typeface="Calibri"/>
              </a:rPr>
              <a:t>THE PROJECT'S OWN HEADLINE CLAIM WAS WRONG, TWICE OVER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0">
                <a:solidFill>
                  <a:srgbClr val="FFFFFF"/>
                </a:solidFill>
                <a:latin typeface="Calibri"/>
              </a:rPr>
              <a:t>It was wrong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in fact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— two rules read field names Stage 1 never emitted, one read a placeholder Stage 2 fills, and one compared a language value against a marker stored elsewhere: net, one rule always fired and three could never fire. It was wrong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in framing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— even a correctly functioning gate governs a minority of spend once every comment is labelled.</a:t>
            </a:r>
          </a:p>
        </p:txBody>
      </p:sp>
      <p:sp>
        <p:nvSpPr>
          <p:cNvPr id="923" name="Rounded Rectangle 922"/>
          <p:cNvSpPr/>
          <p:nvPr/>
        </p:nvSpPr>
        <p:spPr>
          <a:xfrm>
            <a:off x="566928" y="4773168"/>
            <a:ext cx="5349240" cy="987552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The claim that survives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F7D5A"/>
              </a:buClr>
              <a:buFont typeface="Arial"/>
              <a:buChar char="▪"/>
            </a:pPr>
            <a:r>
              <a:rPr sz="1150" i="0" b="1">
                <a:solidFill>
                  <a:srgbClr val="3F3F3F"/>
                </a:solidFill>
                <a:latin typeface="Calibri"/>
              </a:rPr>
              <a:t>Cheap NLP filters which comments and which posts deserve a large model.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Both halves matter — and the second is now the bigger one.</a:t>
            </a:r>
          </a:p>
        </p:txBody>
      </p:sp>
      <p:sp>
        <p:nvSpPr>
          <p:cNvPr id="924" name="Rectangle 923"/>
          <p:cNvSpPr/>
          <p:nvPr/>
        </p:nvSpPr>
        <p:spPr>
          <a:xfrm>
            <a:off x="566928" y="4823459"/>
            <a:ext cx="68580" cy="886968"/>
          </a:xfrm>
          <a:prstGeom prst="rect">
            <a:avLst/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5" name="Rounded Rectangle 924"/>
          <p:cNvSpPr/>
          <p:nvPr/>
        </p:nvSpPr>
        <p:spPr>
          <a:xfrm>
            <a:off x="6272784" y="4773168"/>
            <a:ext cx="5349240" cy="987552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The transferable lesson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Font typeface="Arial"/>
              <a:buChar char="▪"/>
            </a:pPr>
            <a:r>
              <a:rPr sz="1150" i="0" b="1">
                <a:solidFill>
                  <a:srgbClr val="3F3F3F"/>
                </a:solidFill>
                <a:latin typeface="Calibri"/>
              </a:rPr>
              <a:t>When the routed unit contains many sub-items that each need work, routing the container is not the cost lever.</a:t>
            </a:r>
            <a:r>
              <a:rPr sz="1150" i="0" b="0">
                <a:solidFill>
                  <a:srgbClr val="3F3F3F"/>
                </a:solidFill>
                <a:latin typeface="Calibri"/>
              </a:rPr>
              <a:t> The published cascades route single queries, so they never meet this.</a:t>
            </a:r>
          </a:p>
        </p:txBody>
      </p:sp>
      <p:sp>
        <p:nvSpPr>
          <p:cNvPr id="926" name="Rectangle 925"/>
          <p:cNvSpPr/>
          <p:nvPr/>
        </p:nvSpPr>
        <p:spPr>
          <a:xfrm>
            <a:off x="6272784" y="4823459"/>
            <a:ext cx="68580" cy="88696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Results — retrieval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4 · § 4.2.5</a:t>
            </a:r>
          </a:p>
        </p:txBody>
      </p:sp>
      <p:sp>
        <p:nvSpPr>
          <p:cNvPr id="918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19" name="TextBox 918"/>
          <p:cNvSpPr txBox="1"/>
          <p:nvPr/>
        </p:nvSpPr>
        <p:spPr>
          <a:xfrm>
            <a:off x="566928" y="117043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recall@10 before and after real embeddings</a:t>
            </a:r>
          </a:p>
        </p:txBody>
      </p:sp>
      <p:graphicFrame>
        <p:nvGraphicFramePr>
          <p:cNvPr id="920" name="Chart 919"/>
          <p:cNvGraphicFramePr>
            <a:graphicFrameLocks noGrp="1"/>
          </p:cNvGraphicFramePr>
          <p:nvPr/>
        </p:nvGraphicFramePr>
        <p:xfrm>
          <a:off x="438912" y="1408176"/>
          <a:ext cx="553212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6272784" y="1170432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recall@10 stratified by query-to-target lexical overlap</a:t>
            </a:r>
          </a:p>
        </p:txBody>
      </p:sp>
      <p:graphicFrame>
        <p:nvGraphicFramePr>
          <p:cNvPr id="922" name="Chart 921"/>
          <p:cNvGraphicFramePr>
            <a:graphicFrameLocks noGrp="1"/>
          </p:cNvGraphicFramePr>
          <p:nvPr/>
        </p:nvGraphicFramePr>
        <p:xfrm>
          <a:off x="6144768" y="1408176"/>
          <a:ext cx="5532120" cy="2103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23" name="Table 922"/>
          <p:cNvGraphicFramePr>
            <a:graphicFrameLocks noGrp="1"/>
          </p:cNvGraphicFramePr>
          <p:nvPr/>
        </p:nvGraphicFramePr>
        <p:xfrm>
          <a:off x="566928" y="3675887"/>
          <a:ext cx="6711694" cy="18242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32124"/>
                <a:gridCol w="984382"/>
                <a:gridCol w="984382"/>
                <a:gridCol w="805403"/>
                <a:gridCol w="805403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FFFFFF"/>
                          </a:solidFill>
                          <a:latin typeface="Calibri"/>
                        </a:rPr>
                        <a:t>recall@10 (hash)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FFFFFF"/>
                          </a:solidFill>
                          <a:latin typeface="Calibri"/>
                        </a:rPr>
                        <a:t>recall@10 (real)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FFFFFF"/>
                          </a:solidFill>
                          <a:latin typeface="Calibri"/>
                        </a:rPr>
                        <a:t>MRR@10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vector (dense only)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0.1875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0.6250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0.2869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0.3667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lexical (full text fused with trigram)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0.3750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0.7500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0.6503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0.6748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chunk (dense over passage chunks)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not measured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0.6562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0.3014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0.3846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hybrid (dense fused with lexical)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0.5312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0.8750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0.6108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0.6759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3F3F3F"/>
                          </a:solidFill>
                          <a:latin typeface="Calibri"/>
                        </a:rPr>
                        <a:t>chunked (chunk fused with full text and trigram)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3F3F3F"/>
                          </a:solidFill>
                          <a:latin typeface="Calibri"/>
                        </a:rPr>
                        <a:t>not measured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0.8750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0.6482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0.7041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4" name="Rounded Rectangle 923"/>
          <p:cNvSpPr/>
          <p:nvPr/>
        </p:nvSpPr>
        <p:spPr>
          <a:xfrm>
            <a:off x="7461504" y="3675887"/>
            <a:ext cx="4160520" cy="1847088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Three findings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Hash vectors were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indistinguishable from chance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— ten random posts of fifty score 0.20 by construction.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Chunking improves ranking, not recall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here: only 14 of 50 posts exceed 600 characters.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The lexical arm's jump was a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bug fix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: the query builder conjoined every term, so the full-text half matched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zero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rows — covered by a passing test.</a:t>
            </a:r>
          </a:p>
        </p:txBody>
      </p:sp>
      <p:sp>
        <p:nvSpPr>
          <p:cNvPr id="925" name="Rectangle 924"/>
          <p:cNvSpPr/>
          <p:nvPr/>
        </p:nvSpPr>
        <p:spPr>
          <a:xfrm>
            <a:off x="7461504" y="3726179"/>
            <a:ext cx="68580" cy="174650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6" name="TextBox 925"/>
          <p:cNvSpPr txBox="1"/>
          <p:nvPr/>
        </p:nvSpPr>
        <p:spPr>
          <a:xfrm>
            <a:off x="566928" y="5541264"/>
            <a:ext cx="67116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76808C"/>
                </a:solidFill>
                <a:latin typeface="Calibri"/>
              </a:rPr>
              <a:t>32 known-item queries, one marked relevant post each, k = 10, 50-post corpus.   Lower bounds: every other on-topic post counts as a miss, and the decisive bucket holds 8 queries — </a:t>
            </a:r>
            <a:r>
              <a:rPr sz="950" i="0" b="1">
                <a:solidFill>
                  <a:srgbClr val="76808C"/>
                </a:solidFill>
                <a:latin typeface="Calibri"/>
              </a:rPr>
              <a:t>the direction is consistent; the set is too small to call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Results — label provenance and ensemble 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4 · § 4.2.6</a:t>
            </a:r>
          </a:p>
        </p:txBody>
      </p:sp>
      <p:sp>
        <p:nvSpPr>
          <p:cNvPr id="919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graphicFrame>
        <p:nvGraphicFramePr>
          <p:cNvPr id="920" name="Chart 919"/>
          <p:cNvGraphicFramePr>
            <a:graphicFrameLocks noGrp="1"/>
          </p:cNvGraphicFramePr>
          <p:nvPr/>
        </p:nvGraphicFramePr>
        <p:xfrm>
          <a:off x="475488" y="1170432"/>
          <a:ext cx="484632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21" name="Rounded Rectangle 920"/>
          <p:cNvSpPr/>
          <p:nvPr/>
        </p:nvSpPr>
        <p:spPr>
          <a:xfrm>
            <a:off x="5120640" y="1207008"/>
            <a:ext cx="6501384" cy="1335024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What the measurement found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Measured over all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10,272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comments in the repository's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default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 configuration. The larger slice is partly a fourteen-word emoji-and-lexicon rule and mostly a deterministic function of a hash of the first fifty characters. It is reproducible, and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it is not sentiment</a:t>
            </a:r>
            <a:r>
              <a:rPr sz="1100" i="0" b="0">
                <a:solidFill>
                  <a:srgbClr val="3F3F3F"/>
                </a:solidFill>
                <a:latin typeface="Calibri"/>
              </a:rPr>
              <a:t>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100" i="0" b="0">
                <a:solidFill>
                  <a:srgbClr val="3F3F3F"/>
                </a:solidFill>
                <a:latin typeface="Calibri"/>
              </a:rPr>
              <a:t>Before provenance was recorded, the same run reported </a:t>
            </a:r>
            <a:r>
              <a:rPr sz="1100" i="0" b="1">
                <a:solidFill>
                  <a:srgbClr val="3F3F3F"/>
                </a:solidFill>
                <a:latin typeface="Calibri"/>
              </a:rPr>
              <a:t>8,513 model inferences in a configuration where zero models had been loaded.</a:t>
            </a:r>
          </a:p>
        </p:txBody>
      </p:sp>
      <p:sp>
        <p:nvSpPr>
          <p:cNvPr id="922" name="Rectangle 921"/>
          <p:cNvSpPr/>
          <p:nvPr/>
        </p:nvSpPr>
        <p:spPr>
          <a:xfrm>
            <a:off x="5120640" y="1257300"/>
            <a:ext cx="68580" cy="1234439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3" name="TextBox 922"/>
          <p:cNvSpPr txBox="1"/>
          <p:nvPr/>
        </p:nvSpPr>
        <p:spPr>
          <a:xfrm>
            <a:off x="5120640" y="2688336"/>
            <a:ext cx="65013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Four reporting mechanisms — now permanent parts of the output contract</a:t>
            </a:r>
          </a:p>
        </p:txBody>
      </p:sp>
      <p:sp>
        <p:nvSpPr>
          <p:cNvPr id="924" name="Rounded Rectangle 923"/>
          <p:cNvSpPr/>
          <p:nvPr/>
        </p:nvSpPr>
        <p:spPr>
          <a:xfrm>
            <a:off x="5120640" y="2962656"/>
            <a:ext cx="3200400" cy="475488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1050" i="0" b="1">
                <a:solidFill>
                  <a:srgbClr val="1F497D"/>
                </a:solidFill>
                <a:latin typeface="Calibri"/>
              </a:rPr>
              <a:t>method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names the engine that actually ran, per comment</a:t>
            </a:r>
          </a:p>
        </p:txBody>
      </p:sp>
      <p:sp>
        <p:nvSpPr>
          <p:cNvPr id="925" name="Rounded Rectangle 924"/>
          <p:cNvSpPr/>
          <p:nvPr/>
        </p:nvSpPr>
        <p:spPr>
          <a:xfrm>
            <a:off x="8421624" y="2962656"/>
            <a:ext cx="3200400" cy="475488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1050" i="0" b="1">
                <a:solidFill>
                  <a:srgbClr val="1F497D"/>
                </a:solidFill>
                <a:latin typeface="Calibri"/>
              </a:rPr>
              <a:t>kind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distinguishes emoji · short · substantive text</a:t>
            </a:r>
          </a:p>
        </p:txBody>
      </p:sp>
      <p:sp>
        <p:nvSpPr>
          <p:cNvPr id="926" name="Rounded Rectangle 925"/>
          <p:cNvSpPr/>
          <p:nvPr/>
        </p:nvSpPr>
        <p:spPr>
          <a:xfrm>
            <a:off x="5120640" y="3511296"/>
            <a:ext cx="3200400" cy="475488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1050" i="0" b="1">
                <a:solidFill>
                  <a:srgbClr val="1F497D"/>
                </a:solidFill>
                <a:latin typeface="Calibri"/>
              </a:rPr>
              <a:t>provenance block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per post: what share of labels were model inferences</a:t>
            </a:r>
          </a:p>
        </p:txBody>
      </p:sp>
      <p:sp>
        <p:nvSpPr>
          <p:cNvPr id="927" name="Rounded Rectangle 926"/>
          <p:cNvSpPr/>
          <p:nvPr/>
        </p:nvSpPr>
        <p:spPr>
          <a:xfrm>
            <a:off x="8421624" y="3511296"/>
            <a:ext cx="3200400" cy="475488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1050" i="0" b="1">
                <a:solidFill>
                  <a:srgbClr val="1F497D"/>
                </a:solidFill>
                <a:latin typeface="Calibri"/>
              </a:rPr>
              <a:t>voters that spoke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beside every label and agreement figure</a:t>
            </a:r>
          </a:p>
        </p:txBody>
      </p:sp>
      <p:sp>
        <p:nvSpPr>
          <p:cNvPr id="928" name="Rounded Rectangle 927"/>
          <p:cNvSpPr/>
          <p:nvPr/>
        </p:nvSpPr>
        <p:spPr>
          <a:xfrm>
            <a:off x="566928" y="4078224"/>
            <a:ext cx="11055096" cy="566928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 b="0">
                <a:solidFill>
                  <a:srgbClr val="FFFFFF"/>
                </a:solidFill>
                <a:latin typeface="Calibri"/>
              </a:rPr>
              <a:t>The remedy was </a:t>
            </a:r>
            <a:r>
              <a:rPr sz="1200" i="0" b="1">
                <a:solidFill>
                  <a:srgbClr val="FFFFFF"/>
                </a:solidFill>
                <a:latin typeface="Calibri"/>
              </a:rPr>
              <a:t>not to hide the slice but to label it</a:t>
            </a:r>
            <a:r>
              <a:rPr sz="1200" i="0" b="0">
                <a:solidFill>
                  <a:srgbClr val="FFFFFF"/>
                </a:solidFill>
                <a:latin typeface="Calibri"/>
              </a:rPr>
              <a:t> — which makes the accurate statement available: 28.7 % of labels are model output, with the remainder itemised. With the full ensemble roster provisioned, that figure is 100 %.</a:t>
            </a:r>
          </a:p>
        </p:txBody>
      </p:sp>
      <p:graphicFrame>
        <p:nvGraphicFramePr>
          <p:cNvPr id="929" name="Table 928"/>
          <p:cNvGraphicFramePr>
            <a:graphicFrameLocks noGrp="1"/>
          </p:cNvGraphicFramePr>
          <p:nvPr/>
        </p:nvGraphicFramePr>
        <p:xfrm>
          <a:off x="566928" y="4718304"/>
          <a:ext cx="11055096" cy="11612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91840"/>
                <a:gridCol w="1920240"/>
                <a:gridCol w="2194560"/>
                <a:gridCol w="3648456"/>
              </a:tblGrid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All-cheap baseline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Shipped hybrid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LLM-everywhere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Posts routed for post-level LLM work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32 of 43  (74 %)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7 of 43  (16 %)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43 of 43, by definition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Total LLM calls per corpus run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813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529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not run — bounded below by 1/post + 1/comment batch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Independent verdicts per analysed comment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up to </a:t>
                      </a: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8</a:t>
                      </a: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, with abstention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Can the output state what produced each label?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trivially — one producer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Novelty of the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Contribution</a:t>
            </a:r>
          </a:p>
        </p:txBody>
      </p:sp>
      <p:sp>
        <p:nvSpPr>
          <p:cNvPr id="920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21" name="Rounded Rectangle 920"/>
          <p:cNvSpPr/>
          <p:nvPr/>
        </p:nvSpPr>
        <p:spPr>
          <a:xfrm>
            <a:off x="566928" y="1188720"/>
            <a:ext cx="3538728" cy="1536192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A cascade that reports what its gate is worth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The router makes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two separate decisions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, and the system publishes γ — the share of spend the gate governs — from its own counters. No published cascade routes a </a:t>
            </a:r>
            <a:r>
              <a:rPr sz="1050" i="1" b="0">
                <a:solidFill>
                  <a:srgbClr val="3F3F3F"/>
                </a:solidFill>
                <a:latin typeface="Calibri"/>
              </a:rPr>
              <a:t>container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of sub-items, so none reports this quantity at all.</a:t>
            </a:r>
          </a:p>
        </p:txBody>
      </p:sp>
      <p:sp>
        <p:nvSpPr>
          <p:cNvPr id="922" name="Rectangle 921"/>
          <p:cNvSpPr/>
          <p:nvPr/>
        </p:nvSpPr>
        <p:spPr>
          <a:xfrm>
            <a:off x="566928" y="1239012"/>
            <a:ext cx="68580" cy="1435607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3" name="Rounded Rectangle 922"/>
          <p:cNvSpPr/>
          <p:nvPr/>
        </p:nvSpPr>
        <p:spPr>
          <a:xfrm>
            <a:off x="4325112" y="1188720"/>
            <a:ext cx="3538728" cy="1536192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Abstention instead of a fabricated default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215968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Eight independent verdicts per comment with the roster shown side by side; a comment no model read is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uncertain at zero voters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, never neutral. It makes the reported agreement falsifiable.</a:t>
            </a:r>
          </a:p>
        </p:txBody>
      </p:sp>
      <p:sp>
        <p:nvSpPr>
          <p:cNvPr id="924" name="Rectangle 923"/>
          <p:cNvSpPr/>
          <p:nvPr/>
        </p:nvSpPr>
        <p:spPr>
          <a:xfrm>
            <a:off x="4325112" y="1239012"/>
            <a:ext cx="68580" cy="1435607"/>
          </a:xfrm>
          <a:prstGeom prst="rect">
            <a:avLst/>
          </a:prstGeom>
          <a:solidFill>
            <a:srgbClr val="215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5" name="Rounded Rectangle 924"/>
          <p:cNvSpPr/>
          <p:nvPr/>
        </p:nvSpPr>
        <p:spPr>
          <a:xfrm>
            <a:off x="8083296" y="1188720"/>
            <a:ext cx="3538728" cy="1536192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Alias-aware target stance for three scripts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Operator-supplied, versioned watchlist; per-entity verdicts at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zero additional model calls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, in a field kept separate from sentiment — and a zero-match target is logged as the coverage bug it probably is.</a:t>
            </a:r>
          </a:p>
        </p:txBody>
      </p:sp>
      <p:sp>
        <p:nvSpPr>
          <p:cNvPr id="926" name="Rectangle 925"/>
          <p:cNvSpPr/>
          <p:nvPr/>
        </p:nvSpPr>
        <p:spPr>
          <a:xfrm>
            <a:off x="8083296" y="1239012"/>
            <a:ext cx="68580" cy="1435607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7" name="Rounded Rectangle 926"/>
          <p:cNvSpPr/>
          <p:nvPr/>
        </p:nvSpPr>
        <p:spPr>
          <a:xfrm>
            <a:off x="566928" y="2907791"/>
            <a:ext cx="3538728" cy="1536192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Agents over the system's own analytics, hardened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Nine agents, eighteen typed MCP tools, three servers — with untrusted-data delimiters, forged-delimiter neutralisation, citation verification against what the model was shown, and non-answer rejection.</a:t>
            </a:r>
          </a:p>
        </p:txBody>
      </p:sp>
      <p:sp>
        <p:nvSpPr>
          <p:cNvPr id="928" name="Rectangle 927"/>
          <p:cNvSpPr/>
          <p:nvPr/>
        </p:nvSpPr>
        <p:spPr>
          <a:xfrm>
            <a:off x="566928" y="2958084"/>
            <a:ext cx="68580" cy="1435607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9" name="Rounded Rectangle 928"/>
          <p:cNvSpPr/>
          <p:nvPr/>
        </p:nvSpPr>
        <p:spPr>
          <a:xfrm>
            <a:off x="4325112" y="2907791"/>
            <a:ext cx="3538728" cy="1536192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Provenance on every value, evidence class on every claim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F7D5A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Twenty-eight capabilities each recorded once as </a:t>
            </a:r>
            <a:r>
              <a:rPr sz="1050" i="1" b="0">
                <a:solidFill>
                  <a:srgbClr val="3F3F3F"/>
                </a:solidFill>
                <a:latin typeface="Calibri"/>
              </a:rPr>
              <a:t>measured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, </a:t>
            </a:r>
            <a:r>
              <a:rPr sz="1050" i="1" b="0">
                <a:solidFill>
                  <a:srgbClr val="3F3F3F"/>
                </a:solidFill>
                <a:latin typeface="Calibri"/>
              </a:rPr>
              <a:t>works-but-unmeasured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, </a:t>
            </a:r>
            <a:r>
              <a:rPr sz="1050" i="1" b="0">
                <a:solidFill>
                  <a:srgbClr val="3F3F3F"/>
                </a:solidFill>
                <a:latin typeface="Calibri"/>
              </a:rPr>
              <a:t>unexercised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or </a:t>
            </a:r>
            <a:r>
              <a:rPr sz="1050" i="1" b="0">
                <a:solidFill>
                  <a:srgbClr val="3F3F3F"/>
                </a:solidFill>
                <a:latin typeface="Calibri"/>
              </a:rPr>
              <a:t>out of scope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— so no claim rests on a stronger basis than the ledger records.</a:t>
            </a:r>
          </a:p>
        </p:txBody>
      </p:sp>
      <p:sp>
        <p:nvSpPr>
          <p:cNvPr id="930" name="Rectangle 929"/>
          <p:cNvSpPr/>
          <p:nvPr/>
        </p:nvSpPr>
        <p:spPr>
          <a:xfrm>
            <a:off x="4325112" y="2958084"/>
            <a:ext cx="68580" cy="1435607"/>
          </a:xfrm>
          <a:prstGeom prst="rect">
            <a:avLst/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1" name="Rounded Rectangle 930"/>
          <p:cNvSpPr/>
          <p:nvPr/>
        </p:nvSpPr>
        <p:spPr>
          <a:xfrm>
            <a:off x="8083296" y="2907791"/>
            <a:ext cx="3538728" cy="1536192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A disconfirmation reported as a result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B03A2E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The project's own headline claim did not survive measurement, and the report says so. The generalisable finding —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silent successes, not wrong answers, are what break systems of this shape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— came out of that.</a:t>
            </a:r>
          </a:p>
        </p:txBody>
      </p:sp>
      <p:sp>
        <p:nvSpPr>
          <p:cNvPr id="932" name="Rectangle 931"/>
          <p:cNvSpPr/>
          <p:nvPr/>
        </p:nvSpPr>
        <p:spPr>
          <a:xfrm>
            <a:off x="8083296" y="2958084"/>
            <a:ext cx="68580" cy="1435607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3" name="Rounded Rectangle 932"/>
          <p:cNvSpPr/>
          <p:nvPr/>
        </p:nvSpPr>
        <p:spPr>
          <a:xfrm>
            <a:off x="566928" y="4626864"/>
            <a:ext cx="11055096" cy="1133856"/>
          </a:xfrm>
          <a:prstGeom prst="roundRect">
            <a:avLst>
              <a:gd name="adj" fmla="val 4500"/>
            </a:avLst>
          </a:prstGeom>
          <a:solidFill>
            <a:srgbClr val="153054"/>
          </a:solidFill>
          <a:ln w="9525">
            <a:solidFill>
              <a:srgbClr val="1530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0">
                <a:solidFill>
                  <a:srgbClr val="FFFFFF"/>
                </a:solidFill>
                <a:latin typeface="Calibri"/>
              </a:rPr>
              <a:t>Twenty-one of twenty-three capability rows in the feature comparison are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Yes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where the four comparable classes of system are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No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, </a:t>
            </a:r>
            <a:r>
              <a:rPr sz="1150" i="1" b="0">
                <a:solidFill>
                  <a:srgbClr val="FFFFFF"/>
                </a:solidFill>
                <a:latin typeface="Calibri"/>
              </a:rPr>
              <a:t>Partial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or </a:t>
            </a:r>
            <a:r>
              <a:rPr sz="1150" i="1" b="0">
                <a:solidFill>
                  <a:srgbClr val="FFFFFF"/>
                </a:solidFill>
                <a:latin typeface="Calibri"/>
              </a:rPr>
              <a:t>Not applicable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. The two rows that are not — the image modality and labelling accuracy — are the ones that qualify the rest, and they are carried at their evidence class throughout the report rather than quietly dropped.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Sample Dataset — the working corpus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4 · § 4.2.1</a:t>
            </a:r>
          </a:p>
        </p:txBody>
      </p:sp>
      <p:sp>
        <p:nvSpPr>
          <p:cNvPr id="921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graphicFrame>
        <p:nvGraphicFramePr>
          <p:cNvPr id="922" name="Table 921"/>
          <p:cNvGraphicFramePr>
            <a:graphicFrameLocks noGrp="1"/>
          </p:cNvGraphicFramePr>
          <p:nvPr/>
        </p:nvGraphicFramePr>
        <p:xfrm>
          <a:off x="566928" y="1188720"/>
          <a:ext cx="6565392" cy="38642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88920"/>
                <a:gridCol w="3776472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64008" marR="64008" marT="27432" marB="27432" anchor="ctr">
                    <a:solidFill>
                      <a:srgbClr val="1F497D"/>
                    </a:solidFill>
                  </a:tcPr>
                </a:tc>
              </a:tr>
              <a:tr h="2761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Posts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50, across 25 monitoring campaigns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61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Media type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37 photo-with-text, 7 photo-only, 6 text-only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2761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Posts with a caption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43 of 50 — the other 7 have a null caption and no reachable image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61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Caption length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median 245 characters, maximum 5,427; 14 of 50 exceed 600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2761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Publication window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29 April to 19 May 2026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61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Comments shipped in the payload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10,272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2761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Comments the platform reports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274,126  →  corpus coverage </a:t>
                      </a: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3.75 %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61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Stored comments per post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minimum 87, median 98, maximum </a:t>
                      </a: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2,857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2761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Comment reactions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mean 3.97, maximum 946; 64.1 % have zero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61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Emoji-only comments (pipeline's own kind classifier)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2.8 %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2761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Threading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0 comments carry a parent id, yet 1,111 report a non-zero reply count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61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Post reactions · shares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794,373 · 93,903</a:t>
                      </a:r>
                    </a:p>
                  </a:txBody>
                  <a:tcPr marL="64008" marR="64008" marT="27432" marB="27432" anchor="ctr">
                    <a:solidFill>
                      <a:srgbClr val="F4F8FC"/>
                    </a:solidFill>
                  </a:tcPr>
                </a:tc>
              </a:tr>
              <a:tr h="276148"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Image references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3F3F3F"/>
                          </a:solidFill>
                          <a:latin typeface="Calibri"/>
                        </a:rPr>
                        <a:t>69 across 44 posts — all relative object-storage keys, </a:t>
                      </a:r>
                      <a:r>
                        <a:rPr sz="950" i="0" b="1">
                          <a:solidFill>
                            <a:srgbClr val="1F497D"/>
                          </a:solidFill>
                          <a:latin typeface="Calibri"/>
                        </a:rPr>
                        <a:t>objects absent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3" name="TextBox 922"/>
          <p:cNvSpPr txBox="1"/>
          <p:nvPr/>
        </p:nvSpPr>
        <p:spPr>
          <a:xfrm>
            <a:off x="7315200" y="1188720"/>
            <a:ext cx="43068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Script composition of the 10,272 comments</a:t>
            </a:r>
          </a:p>
        </p:txBody>
      </p:sp>
      <p:graphicFrame>
        <p:nvGraphicFramePr>
          <p:cNvPr id="924" name="Chart 923"/>
          <p:cNvGraphicFramePr>
            <a:graphicFrameLocks noGrp="1"/>
          </p:cNvGraphicFramePr>
          <p:nvPr/>
        </p:nvGraphicFramePr>
        <p:xfrm>
          <a:off x="7315200" y="1408176"/>
          <a:ext cx="4306824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25" name="Rounded Rectangle 924"/>
          <p:cNvSpPr/>
          <p:nvPr/>
        </p:nvSpPr>
        <p:spPr>
          <a:xfrm>
            <a:off x="7315200" y="3913632"/>
            <a:ext cx="4306824" cy="1883664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Three consequences, stated up front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000" i="0" b="1">
                <a:solidFill>
                  <a:srgbClr val="3F3F3F"/>
                </a:solidFill>
                <a:latin typeface="Calibri"/>
              </a:rPr>
              <a:t>The comment sample is not random.</a:t>
            </a:r>
            <a:r>
              <a:rPr sz="1000" i="0" b="0">
                <a:solidFill>
                  <a:srgbClr val="3F3F3F"/>
                </a:solidFill>
                <a:latin typeface="Calibri"/>
              </a:rPr>
              <a:t> It is the platform's engagement-ordered set, so what the data supports is a claim about </a:t>
            </a:r>
            <a:r>
              <a:rPr sz="1000" i="1" b="0">
                <a:solidFill>
                  <a:srgbClr val="3F3F3F"/>
                </a:solidFill>
                <a:latin typeface="Calibri"/>
              </a:rPr>
              <a:t>the most-engaged N comments per post</a:t>
            </a:r>
            <a:r>
              <a:rPr sz="1000" i="0" b="0">
                <a:solidFill>
                  <a:srgbClr val="3F3F3F"/>
                </a:solidFill>
                <a:latin typeface="Calibri"/>
              </a:rPr>
              <a:t> — and that is the phrasing the report uses.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000" i="0" b="1">
                <a:solidFill>
                  <a:srgbClr val="3F3F3F"/>
                </a:solidFill>
                <a:latin typeface="Calibri"/>
              </a:rPr>
              <a:t>Post sentiment is a text measurement.</a:t>
            </a:r>
            <a:r>
              <a:rPr sz="1000" i="0" b="0">
                <a:solidFill>
                  <a:srgbClr val="3F3F3F"/>
                </a:solidFill>
                <a:latin typeface="Calibri"/>
              </a:rPr>
              <a:t> No image bytes are reachable, so the vision term has never carried a value; fusion renormalises over the terms that did.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000" i="0" b="1">
                <a:solidFill>
                  <a:srgbClr val="3F3F3F"/>
                </a:solidFill>
                <a:latin typeface="Calibri"/>
              </a:rPr>
              <a:t>The 7 caption-less posts stay in.</a:t>
            </a:r>
            <a:r>
              <a:rPr sz="1000" i="0" b="0">
                <a:solidFill>
                  <a:srgbClr val="3F3F3F"/>
                </a:solidFill>
                <a:latin typeface="Calibri"/>
              </a:rPr>
              <a:t> They carry 1,307 comments; excluding them measured a population the running system never processes.</a:t>
            </a:r>
          </a:p>
        </p:txBody>
      </p:sp>
      <p:sp>
        <p:nvSpPr>
          <p:cNvPr id="926" name="Rectangle 925"/>
          <p:cNvSpPr/>
          <p:nvPr/>
        </p:nvSpPr>
        <p:spPr>
          <a:xfrm>
            <a:off x="7315200" y="3963924"/>
            <a:ext cx="68580" cy="178308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7" name="TextBox 926"/>
          <p:cNvSpPr txBox="1"/>
          <p:nvPr/>
        </p:nvSpPr>
        <p:spPr>
          <a:xfrm>
            <a:off x="566928" y="5193792"/>
            <a:ext cx="65653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3F3F3F"/>
                </a:solidFill>
                <a:latin typeface="Calibri"/>
              </a:rPr>
              <a:t>Five posts exceed 100 % coverage — up to 112 stored comments against a reported 42, which cannot be replies inflating the numerator because no comment carries a parent id. The pipeline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clamps coverage to 1.0 and raises an explicit anomaly flag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rather than rendering an impossible figure.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Expected Output — one document per thread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4 · § 4.3.1</a:t>
            </a:r>
          </a:p>
        </p:txBody>
      </p:sp>
      <p:sp>
        <p:nvSpPr>
          <p:cNvPr id="922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923" name="Picture 922" descr="fig-shot-canon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88720"/>
            <a:ext cx="6565392" cy="4156930"/>
          </a:xfrm>
          <a:prstGeom prst="rect">
            <a:avLst/>
          </a:prstGeom>
          <a:ln w="12700">
            <a:solidFill>
              <a:srgbClr val="C9D8E8"/>
            </a:solidFill>
          </a:ln>
        </p:spPr>
      </p:pic>
      <p:sp>
        <p:nvSpPr>
          <p:cNvPr id="924" name="TextBox 923"/>
          <p:cNvSpPr txBox="1"/>
          <p:nvPr/>
        </p:nvSpPr>
        <p:spPr>
          <a:xfrm>
            <a:off x="566928" y="5395941"/>
            <a:ext cx="6565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76808C"/>
                </a:solidFill>
                <a:latin typeface="Calibri"/>
              </a:rPr>
              <a:t>The canonical result document for one post, as the API returns it</a:t>
            </a:r>
          </a:p>
        </p:txBody>
      </p:sp>
      <p:sp>
        <p:nvSpPr>
          <p:cNvPr id="925" name="Rounded Rectangle 924"/>
          <p:cNvSpPr/>
          <p:nvPr/>
        </p:nvSpPr>
        <p:spPr>
          <a:xfrm>
            <a:off x="7278624" y="1188720"/>
            <a:ext cx="4343400" cy="2103120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What the document carries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Post block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— fused sentiment with its confidence, semantic post type, topics, entities, summary and insight.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Comment array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— per comment: fused label, agreement,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voters that spoke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, the eight per-source verdicts, method and kind.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Target stance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— per watchlist entity, in its own field, never summed with sentiment.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Router decision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— the branch taken and every reason string that fired.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Provenance and coverage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— inferred share, comment coverage, and any anomaly flags raised.</a:t>
            </a:r>
          </a:p>
        </p:txBody>
      </p:sp>
      <p:sp>
        <p:nvSpPr>
          <p:cNvPr id="926" name="Rectangle 925"/>
          <p:cNvSpPr/>
          <p:nvPr/>
        </p:nvSpPr>
        <p:spPr>
          <a:xfrm>
            <a:off x="7278624" y="1239012"/>
            <a:ext cx="68580" cy="20025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7" name="Rounded Rectangle 926"/>
          <p:cNvSpPr/>
          <p:nvPr/>
        </p:nvSpPr>
        <p:spPr>
          <a:xfrm>
            <a:off x="7278624" y="3419856"/>
            <a:ext cx="4343400" cy="1188720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The contract, enforced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31869B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Validated against the output schema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before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it is written, then fanned out to PostgreSQL, ClickHouse and object storage in parallel — with the job counters reconciled from the rows that actually landed.</a:t>
            </a:r>
          </a:p>
        </p:txBody>
      </p:sp>
      <p:sp>
        <p:nvSpPr>
          <p:cNvPr id="928" name="Rectangle 927"/>
          <p:cNvSpPr/>
          <p:nvPr/>
        </p:nvSpPr>
        <p:spPr>
          <a:xfrm>
            <a:off x="7278624" y="3470148"/>
            <a:ext cx="68580" cy="10881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9" name="Rounded Rectangle 928"/>
          <p:cNvSpPr/>
          <p:nvPr/>
        </p:nvSpPr>
        <p:spPr>
          <a:xfrm>
            <a:off x="7278624" y="4754880"/>
            <a:ext cx="4343400" cy="1024128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 b="0">
                <a:solidFill>
                  <a:srgbClr val="FFFFFF"/>
                </a:solidFill>
                <a:latin typeface="Calibri"/>
              </a:rPr>
              <a:t>The upstream platform's own coarse score is preserved </a:t>
            </a:r>
            <a:r>
              <a:rPr sz="1100" i="0" b="1">
                <a:solidFill>
                  <a:srgbClr val="FFFFFF"/>
                </a:solidFill>
                <a:latin typeface="Calibri"/>
              </a:rPr>
              <a:t>beside</a:t>
            </a:r>
            <a:r>
              <a:rPr sz="1100" i="0" b="0">
                <a:solidFill>
                  <a:srgbClr val="FFFFFF"/>
                </a:solidFill>
                <a:latin typeface="Calibri"/>
              </a:rPr>
              <a:t> the recomputed one, never overwritten — so a consumer can always see both, and the analysis layer stays auditable against its source.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Web Interface — corpus, comments and the bill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4 · § 4.3.1</a:t>
            </a:r>
          </a:p>
        </p:txBody>
      </p:sp>
      <p:sp>
        <p:nvSpPr>
          <p:cNvPr id="923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24" name="Rounded Rectangle 923"/>
          <p:cNvSpPr/>
          <p:nvPr/>
        </p:nvSpPr>
        <p:spPr>
          <a:xfrm>
            <a:off x="566928" y="1170432"/>
            <a:ext cx="930194" cy="310896"/>
          </a:xfrm>
          <a:prstGeom prst="roundRect">
            <a:avLst>
              <a:gd name="adj" fmla="val 280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FFFFFF"/>
                </a:solidFill>
                <a:latin typeface="Calibri"/>
              </a:rPr>
              <a:t>Overview</a:t>
            </a:r>
          </a:p>
        </p:txBody>
      </p:sp>
      <p:sp>
        <p:nvSpPr>
          <p:cNvPr id="925" name="Rounded Rectangle 924"/>
          <p:cNvSpPr/>
          <p:nvPr/>
        </p:nvSpPr>
        <p:spPr>
          <a:xfrm>
            <a:off x="1579418" y="1170432"/>
            <a:ext cx="930194" cy="310896"/>
          </a:xfrm>
          <a:prstGeom prst="roundRect">
            <a:avLst>
              <a:gd name="adj" fmla="val 280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FFFFFF"/>
                </a:solidFill>
                <a:latin typeface="Calibri"/>
              </a:rPr>
              <a:t>Posts</a:t>
            </a:r>
          </a:p>
        </p:txBody>
      </p:sp>
      <p:sp>
        <p:nvSpPr>
          <p:cNvPr id="926" name="Rounded Rectangle 925"/>
          <p:cNvSpPr/>
          <p:nvPr/>
        </p:nvSpPr>
        <p:spPr>
          <a:xfrm>
            <a:off x="2591908" y="1170432"/>
            <a:ext cx="930194" cy="310896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1F497D"/>
                </a:solidFill>
                <a:latin typeface="Calibri"/>
              </a:rPr>
              <a:t>Jobs</a:t>
            </a:r>
          </a:p>
        </p:txBody>
      </p:sp>
      <p:sp>
        <p:nvSpPr>
          <p:cNvPr id="927" name="Rounded Rectangle 926"/>
          <p:cNvSpPr/>
          <p:nvPr/>
        </p:nvSpPr>
        <p:spPr>
          <a:xfrm>
            <a:off x="3604398" y="1170432"/>
            <a:ext cx="930194" cy="310896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1F497D"/>
                </a:solidFill>
                <a:latin typeface="Calibri"/>
              </a:rPr>
              <a:t>Reports</a:t>
            </a:r>
          </a:p>
        </p:txBody>
      </p:sp>
      <p:sp>
        <p:nvSpPr>
          <p:cNvPr id="928" name="Rounded Rectangle 927"/>
          <p:cNvSpPr/>
          <p:nvPr/>
        </p:nvSpPr>
        <p:spPr>
          <a:xfrm>
            <a:off x="4616888" y="1170432"/>
            <a:ext cx="930194" cy="310896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1F497D"/>
                </a:solidFill>
                <a:latin typeface="Calibri"/>
              </a:rPr>
              <a:t>Search</a:t>
            </a:r>
          </a:p>
        </p:txBody>
      </p:sp>
      <p:sp>
        <p:nvSpPr>
          <p:cNvPr id="929" name="Rounded Rectangle 928"/>
          <p:cNvSpPr/>
          <p:nvPr/>
        </p:nvSpPr>
        <p:spPr>
          <a:xfrm>
            <a:off x="5629378" y="1170432"/>
            <a:ext cx="930194" cy="310896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1F497D"/>
                </a:solidFill>
                <a:latin typeface="Calibri"/>
              </a:rPr>
              <a:t>Agents</a:t>
            </a:r>
          </a:p>
        </p:txBody>
      </p:sp>
      <p:sp>
        <p:nvSpPr>
          <p:cNvPr id="930" name="Rounded Rectangle 929"/>
          <p:cNvSpPr/>
          <p:nvPr/>
        </p:nvSpPr>
        <p:spPr>
          <a:xfrm>
            <a:off x="6641869" y="1170432"/>
            <a:ext cx="930194" cy="310896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1F497D"/>
                </a:solidFill>
                <a:latin typeface="Calibri"/>
              </a:rPr>
              <a:t>Chat</a:t>
            </a:r>
          </a:p>
        </p:txBody>
      </p:sp>
      <p:sp>
        <p:nvSpPr>
          <p:cNvPr id="931" name="Rounded Rectangle 930"/>
          <p:cNvSpPr/>
          <p:nvPr/>
        </p:nvSpPr>
        <p:spPr>
          <a:xfrm>
            <a:off x="7654359" y="1170432"/>
            <a:ext cx="930194" cy="310896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1F497D"/>
                </a:solidFill>
                <a:latin typeface="Calibri"/>
              </a:rPr>
              <a:t>Pipeline</a:t>
            </a:r>
          </a:p>
        </p:txBody>
      </p:sp>
      <p:sp>
        <p:nvSpPr>
          <p:cNvPr id="932" name="Rounded Rectangle 931"/>
          <p:cNvSpPr/>
          <p:nvPr/>
        </p:nvSpPr>
        <p:spPr>
          <a:xfrm>
            <a:off x="8666849" y="1170432"/>
            <a:ext cx="930194" cy="310896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1F497D"/>
                </a:solidFill>
                <a:latin typeface="Calibri"/>
              </a:rPr>
              <a:t>Trace</a:t>
            </a:r>
          </a:p>
        </p:txBody>
      </p:sp>
      <p:sp>
        <p:nvSpPr>
          <p:cNvPr id="933" name="Rounded Rectangle 932"/>
          <p:cNvSpPr/>
          <p:nvPr/>
        </p:nvSpPr>
        <p:spPr>
          <a:xfrm>
            <a:off x="9679339" y="1170432"/>
            <a:ext cx="930194" cy="310896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1F497D"/>
                </a:solidFill>
                <a:latin typeface="Calibri"/>
              </a:rPr>
              <a:t>Warnings</a:t>
            </a:r>
          </a:p>
        </p:txBody>
      </p:sp>
      <p:sp>
        <p:nvSpPr>
          <p:cNvPr id="934" name="Rounded Rectangle 933"/>
          <p:cNvSpPr/>
          <p:nvPr/>
        </p:nvSpPr>
        <p:spPr>
          <a:xfrm>
            <a:off x="10691829" y="1170432"/>
            <a:ext cx="930194" cy="310896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1F497D"/>
                </a:solidFill>
                <a:latin typeface="Calibri"/>
              </a:rPr>
              <a:t>Logs</a:t>
            </a:r>
          </a:p>
        </p:txBody>
      </p:sp>
      <p:pic>
        <p:nvPicPr>
          <p:cNvPr id="935" name="Picture 934" descr="fig-shot-econo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1627632"/>
            <a:ext cx="4892040" cy="3097434"/>
          </a:xfrm>
          <a:prstGeom prst="rect">
            <a:avLst/>
          </a:prstGeom>
          <a:ln w="12700">
            <a:solidFill>
              <a:srgbClr val="C9D8E8"/>
            </a:solidFill>
          </a:ln>
        </p:spPr>
      </p:pic>
      <p:sp>
        <p:nvSpPr>
          <p:cNvPr id="936" name="TextBox 935"/>
          <p:cNvSpPr txBox="1"/>
          <p:nvPr/>
        </p:nvSpPr>
        <p:spPr>
          <a:xfrm>
            <a:off x="1014984" y="4775357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76808C"/>
                </a:solidFill>
                <a:latin typeface="Calibri"/>
              </a:rPr>
              <a:t>Token economics — spend by lane, by model, and projected</a:t>
            </a:r>
          </a:p>
        </p:txBody>
      </p:sp>
      <p:pic>
        <p:nvPicPr>
          <p:cNvPr id="937" name="Picture 936" descr="fig-shot-ensem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4" y="1627632"/>
            <a:ext cx="4892040" cy="3097434"/>
          </a:xfrm>
          <a:prstGeom prst="rect">
            <a:avLst/>
          </a:prstGeom>
          <a:ln w="12700">
            <a:solidFill>
              <a:srgbClr val="C9D8E8"/>
            </a:solidFill>
          </a:ln>
        </p:spPr>
      </p:pic>
      <p:sp>
        <p:nvSpPr>
          <p:cNvPr id="938" name="TextBox 937"/>
          <p:cNvSpPr txBox="1"/>
          <p:nvPr/>
        </p:nvSpPr>
        <p:spPr>
          <a:xfrm>
            <a:off x="6272784" y="4775357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76808C"/>
                </a:solidFill>
                <a:latin typeface="Calibri"/>
              </a:rPr>
              <a:t>The eight-labeller ensemble, per comment, side by side</a:t>
            </a:r>
          </a:p>
        </p:txBody>
      </p:sp>
      <p:sp>
        <p:nvSpPr>
          <p:cNvPr id="939" name="Rounded Rectangle 938"/>
          <p:cNvSpPr/>
          <p:nvPr/>
        </p:nvSpPr>
        <p:spPr>
          <a:xfrm>
            <a:off x="566928" y="5084064"/>
            <a:ext cx="11055096" cy="713232"/>
          </a:xfrm>
          <a:prstGeom prst="roundRect">
            <a:avLst>
              <a:gd name="adj" fmla="val 4500"/>
            </a:avLst>
          </a:prstGeom>
          <a:solidFill>
            <a:srgbClr val="153054"/>
          </a:solidFill>
          <a:ln w="9525">
            <a:solidFill>
              <a:srgbClr val="1530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i="0" b="1">
                <a:solidFill>
                  <a:srgbClr val="9DC3E6"/>
                </a:solidFill>
                <a:latin typeface="Calibri"/>
              </a:rPr>
              <a:t>THE SAME FINDING, FROM A SECOND SOURCE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0">
                <a:solidFill>
                  <a:srgbClr val="FFFFFF"/>
                </a:solidFill>
                <a:latin typeface="Calibri"/>
              </a:rPr>
              <a:t>In the run shown, five lanes divide 941 calls — post 10, comment 284, Stage-1 83, interactive 523, agent 41. By tokens the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comment lane takes 49 %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and the interactive lane 35 %, while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the post lane — the only one the router's gate governs — takes under one percent.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That is § 4.2.4's finding arrived at from the usage ledger instead of the router's counters.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Web Interface — running it, watching it, asking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4 · § 4.3.1</a:t>
            </a:r>
          </a:p>
        </p:txBody>
      </p:sp>
      <p:sp>
        <p:nvSpPr>
          <p:cNvPr id="924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925" name="Picture 924" descr="fig-shot-pipeline-liv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70432"/>
            <a:ext cx="3547872" cy="2246363"/>
          </a:xfrm>
          <a:prstGeom prst="rect">
            <a:avLst/>
          </a:prstGeom>
          <a:ln w="12700">
            <a:solidFill>
              <a:srgbClr val="C9D8E8"/>
            </a:solidFill>
          </a:ln>
        </p:spPr>
      </p:pic>
      <p:sp>
        <p:nvSpPr>
          <p:cNvPr id="926" name="TextBox 925"/>
          <p:cNvSpPr txBox="1"/>
          <p:nvPr/>
        </p:nvSpPr>
        <p:spPr>
          <a:xfrm>
            <a:off x="566928" y="3467087"/>
            <a:ext cx="3547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76808C"/>
                </a:solidFill>
                <a:latin typeface="Calibri"/>
              </a:rPr>
              <a:t>Pipeline — live queue depths and per-stage throughput</a:t>
            </a:r>
          </a:p>
        </p:txBody>
      </p:sp>
      <p:pic>
        <p:nvPicPr>
          <p:cNvPr id="927" name="Picture 926" descr="fig-ui-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5968" y="1170432"/>
            <a:ext cx="3547872" cy="2246363"/>
          </a:xfrm>
          <a:prstGeom prst="rect">
            <a:avLst/>
          </a:prstGeom>
          <a:ln w="12700">
            <a:solidFill>
              <a:srgbClr val="C9D8E8"/>
            </a:solidFill>
          </a:ln>
        </p:spPr>
      </p:pic>
      <p:sp>
        <p:nvSpPr>
          <p:cNvPr id="928" name="TextBox 927"/>
          <p:cNvSpPr txBox="1"/>
          <p:nvPr/>
        </p:nvSpPr>
        <p:spPr>
          <a:xfrm>
            <a:off x="4315968" y="3467087"/>
            <a:ext cx="3547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76808C"/>
                </a:solidFill>
                <a:latin typeface="Calibri"/>
              </a:rPr>
              <a:t>Trace — one post's five stages as they happen</a:t>
            </a:r>
          </a:p>
        </p:txBody>
      </p:sp>
      <p:pic>
        <p:nvPicPr>
          <p:cNvPr id="929" name="Picture 928" descr="fig-shot-agent-ru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1170432"/>
            <a:ext cx="3547872" cy="2246363"/>
          </a:xfrm>
          <a:prstGeom prst="rect">
            <a:avLst/>
          </a:prstGeom>
          <a:ln w="12700">
            <a:solidFill>
              <a:srgbClr val="C9D8E8"/>
            </a:solidFill>
          </a:ln>
        </p:spPr>
      </p:pic>
      <p:sp>
        <p:nvSpPr>
          <p:cNvPr id="930" name="TextBox 929"/>
          <p:cNvSpPr txBox="1"/>
          <p:nvPr/>
        </p:nvSpPr>
        <p:spPr>
          <a:xfrm>
            <a:off x="8074152" y="3467087"/>
            <a:ext cx="3547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76808C"/>
                </a:solidFill>
                <a:latin typeface="Calibri"/>
              </a:rPr>
              <a:t>Agents — a run with its tool calls and citations</a:t>
            </a:r>
          </a:p>
        </p:txBody>
      </p:sp>
      <p:sp>
        <p:nvSpPr>
          <p:cNvPr id="931" name="Rounded Rectangle 930"/>
          <p:cNvSpPr/>
          <p:nvPr/>
        </p:nvSpPr>
        <p:spPr>
          <a:xfrm>
            <a:off x="566928" y="3785615"/>
            <a:ext cx="3538728" cy="1225296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One command, eleven processes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The orchestrator syncs dependencies, starts four datastores, creates the ClickHouse tables,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verifies the encoder produces real vectors rather than hash stubs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, resets the consumer groups and launches eleven host processes.</a:t>
            </a:r>
          </a:p>
        </p:txBody>
      </p:sp>
      <p:sp>
        <p:nvSpPr>
          <p:cNvPr id="932" name="Rectangle 931"/>
          <p:cNvSpPr/>
          <p:nvPr/>
        </p:nvSpPr>
        <p:spPr>
          <a:xfrm>
            <a:off x="566928" y="3835907"/>
            <a:ext cx="68580" cy="112471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3" name="Rounded Rectangle 932"/>
          <p:cNvSpPr/>
          <p:nvPr/>
        </p:nvSpPr>
        <p:spPr>
          <a:xfrm>
            <a:off x="4325112" y="3785615"/>
            <a:ext cx="3538728" cy="1225296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A fabrication, caught in the act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B03A2E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The Chat tab is where a briefing that quoted invented tables was caught: the agent had retrieved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nothing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, and the run record in Redis proved it. The guard is now code.</a:t>
            </a:r>
          </a:p>
        </p:txBody>
      </p:sp>
      <p:sp>
        <p:nvSpPr>
          <p:cNvPr id="934" name="Rectangle 933"/>
          <p:cNvSpPr/>
          <p:nvPr/>
        </p:nvSpPr>
        <p:spPr>
          <a:xfrm>
            <a:off x="4325112" y="3835907"/>
            <a:ext cx="68580" cy="1124712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5" name="Rounded Rectangle 934"/>
          <p:cNvSpPr/>
          <p:nvPr/>
        </p:nvSpPr>
        <p:spPr>
          <a:xfrm>
            <a:off x="8083296" y="3785615"/>
            <a:ext cx="3538728" cy="1225296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200" i="0" b="1">
                <a:solidFill>
                  <a:srgbClr val="1F497D"/>
                </a:solidFill>
                <a:latin typeface="Calibri"/>
              </a:rPr>
              <a:t>Two operational gaps, recorded not hidden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The event stream has a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five-minute server-side ceiling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, after which Trace reports the run as failed while the pipeline finishes correctly; the monitoring stack ships a correct scrape and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no provisioned dashboards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.</a:t>
            </a:r>
          </a:p>
        </p:txBody>
      </p:sp>
      <p:sp>
        <p:nvSpPr>
          <p:cNvPr id="936" name="Rectangle 935"/>
          <p:cNvSpPr/>
          <p:nvPr/>
        </p:nvSpPr>
        <p:spPr>
          <a:xfrm>
            <a:off x="8083296" y="3835907"/>
            <a:ext cx="68580" cy="1124712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7" name="TextBox 936"/>
          <p:cNvSpPr txBox="1"/>
          <p:nvPr/>
        </p:nvSpPr>
        <p:spPr>
          <a:xfrm>
            <a:off x="566928" y="512064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i="1" b="0">
                <a:solidFill>
                  <a:srgbClr val="1F497D"/>
                </a:solidFill>
                <a:latin typeface="Calibri"/>
              </a:rPr>
              <a:t>Every capture is the running system on the development tier with the corpus loaded — </a:t>
            </a:r>
            <a:r>
              <a:rPr sz="1150" i="1" b="1">
                <a:solidFill>
                  <a:srgbClr val="1F497D"/>
                </a:solidFill>
                <a:latin typeface="Calibri"/>
              </a:rPr>
              <a:t>nothing here is a mock-up</a:t>
            </a:r>
            <a:r>
              <a:rPr sz="1150" i="1" b="0">
                <a:solidFill>
                  <a:srgbClr val="1F497D"/>
                </a:solidFill>
                <a:latin typeface="Calibri"/>
              </a:rPr>
              <a:t>; where a panel shows a number, that number is what the system computed.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Demonstration Video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Live system</a:t>
            </a:r>
          </a:p>
        </p:txBody>
      </p:sp>
      <p:sp>
        <p:nvSpPr>
          <p:cNvPr id="925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26" name="Rounded Rectangle 925"/>
          <p:cNvSpPr/>
          <p:nvPr/>
        </p:nvSpPr>
        <p:spPr>
          <a:xfrm>
            <a:off x="566928" y="1225296"/>
            <a:ext cx="6967728" cy="3922776"/>
          </a:xfrm>
          <a:prstGeom prst="roundRect">
            <a:avLst>
              <a:gd name="adj" fmla="val 2000"/>
            </a:avLst>
          </a:prstGeom>
          <a:solidFill>
            <a:srgbClr val="101B2B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7" name="Rectangle 926"/>
          <p:cNvSpPr/>
          <p:nvPr/>
        </p:nvSpPr>
        <p:spPr>
          <a:xfrm>
            <a:off x="566928" y="1225296"/>
            <a:ext cx="6967728" cy="274320"/>
          </a:xfrm>
          <a:prstGeom prst="rect">
            <a:avLst/>
          </a:prstGeom>
          <a:solidFill>
            <a:srgbClr val="153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713232" y="1271016"/>
            <a:ext cx="6675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i="0" b="0">
                <a:solidFill>
                  <a:srgbClr val="9DC3E6"/>
                </a:solidFill>
                <a:latin typeface="Calibri"/>
              </a:rPr>
              <a:t>selective-intelligence — end-to-end demonstration</a:t>
            </a:r>
          </a:p>
        </p:txBody>
      </p:sp>
      <p:sp>
        <p:nvSpPr>
          <p:cNvPr id="929" name="Oval 928"/>
          <p:cNvSpPr/>
          <p:nvPr/>
        </p:nvSpPr>
        <p:spPr>
          <a:xfrm>
            <a:off x="3575303" y="2546604"/>
            <a:ext cx="950976" cy="950976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0" name="Isosceles Triangle 929"/>
          <p:cNvSpPr/>
          <p:nvPr/>
        </p:nvSpPr>
        <p:spPr>
          <a:xfrm rot="5400000">
            <a:off x="3867911" y="2784348"/>
            <a:ext cx="402336" cy="457200"/>
          </a:xfrm>
          <a:prstGeom prst="triangle">
            <a:avLst/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932688" y="3662172"/>
            <a:ext cx="623620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i="0" b="1">
                <a:solidFill>
                  <a:srgbClr val="FFFFFF"/>
                </a:solidFill>
                <a:latin typeface="Calibri"/>
              </a:rPr>
              <a:t>Place the demonstration video here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9DC3E6"/>
                </a:solidFill>
                <a:latin typeface="Calibri"/>
              </a:rPr>
              <a:t>PowerPoint ▸ Insert ▸ Video ▸ This Device… — then size the video to this frame and delete this placeholder group.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7699248" y="1225296"/>
            <a:ext cx="3922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What the recording walks through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7699248" y="1536192"/>
            <a:ext cx="3922776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4F81BD"/>
              </a:buClr>
              <a:buFont typeface="Arial"/>
              <a:buChar char="▸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One command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brings up four datastores and eleven processes, with the encoder preflight visible.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4F81BD"/>
              </a:buClr>
              <a:buFont typeface="Arial"/>
              <a:buChar char="▸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Ingest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the 50-post payload; the job appears with its counters.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4F81BD"/>
              </a:buClr>
              <a:buFont typeface="Arial"/>
              <a:buChar char="▸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Pipeline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tab: queue depths move stage by stage as the thread is analysed.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4F81BD"/>
              </a:buClr>
              <a:buFont typeface="Arial"/>
              <a:buChar char="▸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Trace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one post: ingestion → Stage-1 → router decision and its reason strings → Stage-2 → assembler.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4F81BD"/>
              </a:buClr>
              <a:buFont typeface="Arial"/>
              <a:buChar char="▸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Posts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tab: open a thread and read the eight per-source verdicts, voters and abstentions on one comment.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4F81BD"/>
              </a:buClr>
              <a:buFont typeface="Arial"/>
              <a:buChar char="▸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Warnings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: a watchlist target with per-entity stance, and a zero-match target flagged.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4F81BD"/>
              </a:buClr>
              <a:buFont typeface="Arial"/>
              <a:buChar char="▸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Search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in both modes, then an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agent run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with its tool calls and verified citations.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4F81BD"/>
              </a:buClr>
              <a:buFont typeface="Arial"/>
              <a:buChar char="▸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Economics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: the five lanes, and the post lane at under one percent of tokens.</a:t>
            </a:r>
          </a:p>
        </p:txBody>
      </p:sp>
      <p:sp>
        <p:nvSpPr>
          <p:cNvPr id="934" name="Rounded Rectangle 933"/>
          <p:cNvSpPr/>
          <p:nvPr/>
        </p:nvSpPr>
        <p:spPr>
          <a:xfrm>
            <a:off x="7699248" y="4663440"/>
            <a:ext cx="3922776" cy="1097280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i="0" b="1">
                <a:solidFill>
                  <a:srgbClr val="9DC3E6"/>
                </a:solidFill>
                <a:latin typeface="Calibri"/>
              </a:rPr>
              <a:t>RECORDING CONDITIONS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FFFFFF"/>
                </a:solidFill>
                <a:latin typeface="Calibri"/>
              </a:rPr>
              <a:t>Recorded on the development tier of the deployment figure, with the corpus of § 4.2.1 already loaded — the same configuration every screenshot in Chapter 4 was taken from.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6 · § 6.1</a:t>
            </a:r>
          </a:p>
        </p:txBody>
      </p:sp>
      <p:sp>
        <p:nvSpPr>
          <p:cNvPr id="926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27" name="Rounded Rectangle 926"/>
          <p:cNvSpPr/>
          <p:nvPr/>
        </p:nvSpPr>
        <p:spPr>
          <a:xfrm>
            <a:off x="566928" y="1170432"/>
            <a:ext cx="11055096" cy="731520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i="0" b="1">
                <a:solidFill>
                  <a:srgbClr val="9DC3E6"/>
                </a:solidFill>
                <a:latin typeface="Calibri"/>
              </a:rPr>
              <a:t>THE QUESTION THIS PROJECT ASKED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 b="0">
                <a:solidFill>
                  <a:srgbClr val="FFFFFF"/>
                </a:solidFill>
                <a:latin typeface="Calibri"/>
              </a:rPr>
              <a:t>Given a post together with its comment thread, in a setting that mixes Bangla script, English and romanized Banglish — can a system decide </a:t>
            </a:r>
            <a:r>
              <a:rPr sz="1250" i="0" b="1">
                <a:solidFill>
                  <a:srgbClr val="FFFFFF"/>
                </a:solidFill>
                <a:latin typeface="Calibri"/>
              </a:rPr>
              <a:t>per unit of work</a:t>
            </a:r>
            <a:r>
              <a:rPr sz="1250" i="0" b="0">
                <a:solidFill>
                  <a:srgbClr val="FFFFFF"/>
                </a:solidFill>
                <a:latin typeface="Calibri"/>
              </a:rPr>
              <a:t> how much intelligence that unit deserves, spend the expensive model only where cheap models cannot answer, and prove afterwards where the money went and what produced every label?</a:t>
            </a:r>
          </a:p>
        </p:txBody>
      </p:sp>
      <p:sp>
        <p:nvSpPr>
          <p:cNvPr id="928" name="TextBox 927"/>
          <p:cNvSpPr txBox="1"/>
          <p:nvPr/>
        </p:nvSpPr>
        <p:spPr>
          <a:xfrm>
            <a:off x="566928" y="2011680"/>
            <a:ext cx="1105509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i="0" b="1">
                <a:solidFill>
                  <a:srgbClr val="C55A11"/>
                </a:solidFill>
                <a:latin typeface="Calibri"/>
              </a:rPr>
              <a:t>The answer is yes — and not in the way the project originally believed.</a:t>
            </a:r>
          </a:p>
        </p:txBody>
      </p:sp>
      <p:sp>
        <p:nvSpPr>
          <p:cNvPr id="929" name="Rounded Rectangle 928"/>
          <p:cNvSpPr/>
          <p:nvPr/>
        </p:nvSpPr>
        <p:spPr>
          <a:xfrm>
            <a:off x="566928" y="2395728"/>
            <a:ext cx="3538728" cy="1883664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What was built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A five-stage, queue-decoupled microservice, measured rather than asserted.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A six-gate router making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two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decisions — post-level spend, and comment selection.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Eight labellers per comment with explicit abstention.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4F81BD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Alias-aware watchlist stance at zero extra calls, and nine agents over eighteen typed MCP tools.</a:t>
            </a:r>
          </a:p>
        </p:txBody>
      </p:sp>
      <p:sp>
        <p:nvSpPr>
          <p:cNvPr id="930" name="Rectangle 929"/>
          <p:cNvSpPr/>
          <p:nvPr/>
        </p:nvSpPr>
        <p:spPr>
          <a:xfrm>
            <a:off x="566928" y="2446020"/>
            <a:ext cx="68580" cy="178308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1" name="Rounded Rectangle 930"/>
          <p:cNvSpPr/>
          <p:nvPr/>
        </p:nvSpPr>
        <p:spPr>
          <a:xfrm>
            <a:off x="4325112" y="2395728"/>
            <a:ext cx="3538728" cy="1883664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What was measured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215968"/>
              </a:buClr>
              <a:buFont typeface="Arial"/>
              <a:buChar char="▪"/>
            </a:pPr>
            <a:r>
              <a:rPr sz="1050" i="0" b="1">
                <a:solidFill>
                  <a:srgbClr val="3F3F3F"/>
                </a:solidFill>
                <a:latin typeface="Calibri"/>
              </a:rPr>
              <a:t>16 %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of posts route under the shipped engine, against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74 %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for a keyword baseline —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215968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yet the gate governs only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30 %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of large-model calls, because 85–96 % of calls are comment-level and comment labelling runs for every post regardless.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215968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Hybrid retrieval reaches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0.8750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recall@10 where hash-seeded vectors score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0.1875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.</a:t>
            </a:r>
          </a:p>
        </p:txBody>
      </p:sp>
      <p:sp>
        <p:nvSpPr>
          <p:cNvPr id="932" name="Rectangle 931"/>
          <p:cNvSpPr/>
          <p:nvPr/>
        </p:nvSpPr>
        <p:spPr>
          <a:xfrm>
            <a:off x="4325112" y="2446020"/>
            <a:ext cx="68580" cy="1783080"/>
          </a:xfrm>
          <a:prstGeom prst="rect">
            <a:avLst/>
          </a:prstGeom>
          <a:solidFill>
            <a:srgbClr val="215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3" name="Rounded Rectangle 932"/>
          <p:cNvSpPr/>
          <p:nvPr/>
        </p:nvSpPr>
        <p:spPr>
          <a:xfrm>
            <a:off x="8083296" y="2395728"/>
            <a:ext cx="3538728" cy="1883664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0584" bIns="10058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00" i="0" b="1">
                <a:solidFill>
                  <a:srgbClr val="1F497D"/>
                </a:solidFill>
                <a:latin typeface="Calibri"/>
              </a:rPr>
              <a:t>What transfers to the next system</a:t>
            </a:r>
          </a:p>
          <a:p>
            <a:pPr algn="l" marL="155448" indent="-155448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C55A11"/>
              </a:buClr>
              <a:buFont typeface="Arial"/>
              <a:buChar char="▪"/>
            </a:pPr>
            <a:r>
              <a:rPr sz="1050" i="0" b="0">
                <a:solidFill>
                  <a:srgbClr val="3F3F3F"/>
                </a:solidFill>
                <a:latin typeface="Calibri"/>
              </a:rPr>
              <a:t>The consequential failures here were not wrong answers but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silent successes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: a gate reporting plausible behaviour with four of six rules inert; a retrieval arm matching zero rows under a passing test; a server discarding 11,000 prompt tokens and reporting only what it evaluated.</a:t>
            </a:r>
          </a:p>
        </p:txBody>
      </p:sp>
      <p:sp>
        <p:nvSpPr>
          <p:cNvPr id="934" name="Rectangle 933"/>
          <p:cNvSpPr/>
          <p:nvPr/>
        </p:nvSpPr>
        <p:spPr>
          <a:xfrm>
            <a:off x="8083296" y="2446020"/>
            <a:ext cx="68580" cy="178308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5" name="Rounded Rectangle 934"/>
          <p:cNvSpPr/>
          <p:nvPr/>
        </p:nvSpPr>
        <p:spPr>
          <a:xfrm>
            <a:off x="566928" y="4425696"/>
            <a:ext cx="11055096" cy="713232"/>
          </a:xfrm>
          <a:prstGeom prst="roundRect">
            <a:avLst>
              <a:gd name="adj" fmla="val 4500"/>
            </a:avLst>
          </a:prstGeom>
          <a:solidFill>
            <a:srgbClr val="153054"/>
          </a:solidFill>
          <a:ln w="9525">
            <a:solidFill>
              <a:srgbClr val="1530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 b="0">
                <a:solidFill>
                  <a:srgbClr val="FFFFFF"/>
                </a:solidFill>
                <a:latin typeface="Calibri"/>
              </a:rPr>
              <a:t>The engineering response is the deliverable's real content — </a:t>
            </a:r>
            <a:r>
              <a:rPr sz="1250" i="0" b="1">
                <a:solidFill>
                  <a:srgbClr val="FFFFFF"/>
                </a:solidFill>
                <a:latin typeface="Calibri"/>
              </a:rPr>
              <a:t>named reader functions, single-source constants, provenance on every value, abstention instead of a default vote, and an evidence class on every published claim.</a:t>
            </a:r>
          </a:p>
        </p:txBody>
      </p:sp>
      <p:sp>
        <p:nvSpPr>
          <p:cNvPr id="936" name="Rounded Rectangle 935"/>
          <p:cNvSpPr/>
          <p:nvPr/>
        </p:nvSpPr>
        <p:spPr>
          <a:xfrm>
            <a:off x="566928" y="5010912"/>
            <a:ext cx="2615184" cy="749808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2296" bIns="8229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2000" i="0" b="1">
                <a:solidFill>
                  <a:srgbClr val="FFFFFF"/>
                </a:solidFill>
                <a:latin typeface="Calibri"/>
              </a:rPr>
              <a:t>56,789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D6E4F2"/>
                </a:solidFill>
                <a:latin typeface="Calibri"/>
              </a:rPr>
              <a:t>lines of Python · 182 files</a:t>
            </a:r>
          </a:p>
        </p:txBody>
      </p:sp>
      <p:sp>
        <p:nvSpPr>
          <p:cNvPr id="937" name="Rounded Rectangle 936"/>
          <p:cNvSpPr/>
          <p:nvPr/>
        </p:nvSpPr>
        <p:spPr>
          <a:xfrm>
            <a:off x="3360420" y="5010912"/>
            <a:ext cx="2615184" cy="749808"/>
          </a:xfrm>
          <a:prstGeom prst="roundRect">
            <a:avLst>
              <a:gd name="adj" fmla="val 4500"/>
            </a:avLst>
          </a:prstGeom>
          <a:solidFill>
            <a:srgbClr val="215968"/>
          </a:solidFill>
          <a:ln w="9525">
            <a:solidFill>
              <a:srgbClr val="2159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2296" bIns="8229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2000" i="0" b="1">
                <a:solidFill>
                  <a:srgbClr val="FFFFFF"/>
                </a:solidFill>
                <a:latin typeface="Calibri"/>
              </a:rPr>
              <a:t>19,850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D6E4F2"/>
                </a:solidFill>
                <a:latin typeface="Calibri"/>
              </a:rPr>
              <a:t>of them tests</a:t>
            </a:r>
          </a:p>
        </p:txBody>
      </p:sp>
      <p:sp>
        <p:nvSpPr>
          <p:cNvPr id="938" name="Rounded Rectangle 937"/>
          <p:cNvSpPr/>
          <p:nvPr/>
        </p:nvSpPr>
        <p:spPr>
          <a:xfrm>
            <a:off x="6153912" y="5010912"/>
            <a:ext cx="2615184" cy="749808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2296" bIns="8229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2000" i="0" b="1">
                <a:solidFill>
                  <a:srgbClr val="FFFFFF"/>
                </a:solidFill>
                <a:latin typeface="Calibri"/>
              </a:rPr>
              <a:t>1,420 + 96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D6E4F2"/>
                </a:solidFill>
                <a:latin typeface="Calibri"/>
              </a:rPr>
              <a:t>Python + dashboard tests</a:t>
            </a:r>
          </a:p>
        </p:txBody>
      </p:sp>
      <p:sp>
        <p:nvSpPr>
          <p:cNvPr id="939" name="Rounded Rectangle 938"/>
          <p:cNvSpPr/>
          <p:nvPr/>
        </p:nvSpPr>
        <p:spPr>
          <a:xfrm>
            <a:off x="8947404" y="5010912"/>
            <a:ext cx="2615184" cy="749808"/>
          </a:xfrm>
          <a:prstGeom prst="roundRect">
            <a:avLst>
              <a:gd name="adj" fmla="val 4500"/>
            </a:avLst>
          </a:prstGeom>
          <a:solidFill>
            <a:srgbClr val="215968"/>
          </a:solidFill>
          <a:ln w="9525">
            <a:solidFill>
              <a:srgbClr val="2159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2296" bIns="82296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2000" i="0" b="1">
                <a:solidFill>
                  <a:srgbClr val="FFFFFF"/>
                </a:solidFill>
                <a:latin typeface="Calibri"/>
              </a:rPr>
              <a:t>73 s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0">
                <a:solidFill>
                  <a:srgbClr val="D6E4F2"/>
                </a:solidFill>
                <a:latin typeface="Calibri"/>
              </a:rPr>
              <a:t>whole verification chain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Limitations, and the work that closes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Chapter 6 · § 6.2 – 6.3</a:t>
            </a:r>
          </a:p>
        </p:txBody>
      </p:sp>
      <p:sp>
        <p:nvSpPr>
          <p:cNvPr id="927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28" name="TextBox 927"/>
          <p:cNvSpPr txBox="1"/>
          <p:nvPr/>
        </p:nvSpPr>
        <p:spPr>
          <a:xfrm>
            <a:off x="566928" y="1170432"/>
            <a:ext cx="5413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i="0" b="1">
                <a:solidFill>
                  <a:srgbClr val="1F497D"/>
                </a:solidFill>
                <a:latin typeface="Calibri"/>
              </a:rPr>
              <a:t>Six limitations — five constrain the evidence, the sixth is a scope decision</a:t>
            </a:r>
          </a:p>
        </p:txBody>
      </p:sp>
      <p:sp>
        <p:nvSpPr>
          <p:cNvPr id="929" name="Rounded Rectangle 928"/>
          <p:cNvSpPr/>
          <p:nvPr/>
        </p:nvSpPr>
        <p:spPr>
          <a:xfrm>
            <a:off x="566928" y="1481328"/>
            <a:ext cx="5413248" cy="548640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0" name="Rounded Rectangle 929"/>
          <p:cNvSpPr/>
          <p:nvPr/>
        </p:nvSpPr>
        <p:spPr>
          <a:xfrm>
            <a:off x="658368" y="1572768"/>
            <a:ext cx="420624" cy="365759"/>
          </a:xfrm>
          <a:prstGeom prst="roundRect">
            <a:avLst>
              <a:gd name="adj" fmla="val 1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931" name="TextBox 930"/>
          <p:cNvSpPr txBox="1"/>
          <p:nvPr/>
        </p:nvSpPr>
        <p:spPr>
          <a:xfrm>
            <a:off x="1188720" y="1554480"/>
            <a:ext cx="46634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3F3F3F"/>
                </a:solidFill>
                <a:latin typeface="Calibri"/>
              </a:rPr>
              <a:t>The corpus is small and its comment sample is biased — 50 posts, one platform, a three-week window; 10,272 comments are an engagement-ordered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3.75 %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slice.</a:t>
            </a:r>
          </a:p>
        </p:txBody>
      </p:sp>
      <p:sp>
        <p:nvSpPr>
          <p:cNvPr id="932" name="Rounded Rectangle 931"/>
          <p:cNvSpPr/>
          <p:nvPr/>
        </p:nvSpPr>
        <p:spPr>
          <a:xfrm>
            <a:off x="566928" y="2093976"/>
            <a:ext cx="5413248" cy="548640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3" name="Rounded Rectangle 932"/>
          <p:cNvSpPr/>
          <p:nvPr/>
        </p:nvSpPr>
        <p:spPr>
          <a:xfrm>
            <a:off x="658368" y="2185416"/>
            <a:ext cx="420624" cy="365759"/>
          </a:xfrm>
          <a:prstGeom prst="roundRect">
            <a:avLst>
              <a:gd name="adj" fmla="val 1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934" name="TextBox 933"/>
          <p:cNvSpPr txBox="1"/>
          <p:nvPr/>
        </p:nvSpPr>
        <p:spPr>
          <a:xfrm>
            <a:off x="1188720" y="2167128"/>
            <a:ext cx="46634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3F3F3F"/>
                </a:solidFill>
                <a:latin typeface="Calibri"/>
              </a:rPr>
              <a:t>The multimodal claim is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unexercised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: 44 of 50 posts carry images, but the 69 object keys have no objects.</a:t>
            </a:r>
          </a:p>
        </p:txBody>
      </p:sp>
      <p:sp>
        <p:nvSpPr>
          <p:cNvPr id="935" name="Rounded Rectangle 934"/>
          <p:cNvSpPr/>
          <p:nvPr/>
        </p:nvSpPr>
        <p:spPr>
          <a:xfrm>
            <a:off x="566928" y="2706624"/>
            <a:ext cx="5413248" cy="548640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6" name="Rounded Rectangle 935"/>
          <p:cNvSpPr/>
          <p:nvPr/>
        </p:nvSpPr>
        <p:spPr>
          <a:xfrm>
            <a:off x="658368" y="2798064"/>
            <a:ext cx="420624" cy="365759"/>
          </a:xfrm>
          <a:prstGeom prst="roundRect">
            <a:avLst>
              <a:gd name="adj" fmla="val 1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1188720" y="2779776"/>
            <a:ext cx="46634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3F3F3F"/>
                </a:solidFill>
                <a:latin typeface="Calibri"/>
              </a:rPr>
              <a:t>Retrieval is measured against a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machine-derived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query set — no human relevance judgement, one relevant post per query.</a:t>
            </a:r>
          </a:p>
        </p:txBody>
      </p:sp>
      <p:sp>
        <p:nvSpPr>
          <p:cNvPr id="938" name="Rounded Rectangle 937"/>
          <p:cNvSpPr/>
          <p:nvPr/>
        </p:nvSpPr>
        <p:spPr>
          <a:xfrm>
            <a:off x="566928" y="3319272"/>
            <a:ext cx="5413248" cy="548640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9" name="Rounded Rectangle 938"/>
          <p:cNvSpPr/>
          <p:nvPr/>
        </p:nvSpPr>
        <p:spPr>
          <a:xfrm>
            <a:off x="658368" y="3410712"/>
            <a:ext cx="420624" cy="365759"/>
          </a:xfrm>
          <a:prstGeom prst="roundRect">
            <a:avLst>
              <a:gd name="adj" fmla="val 1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L4</a:t>
            </a:r>
          </a:p>
        </p:txBody>
      </p:sp>
      <p:sp>
        <p:nvSpPr>
          <p:cNvPr id="940" name="TextBox 939"/>
          <p:cNvSpPr txBox="1"/>
          <p:nvPr/>
        </p:nvSpPr>
        <p:spPr>
          <a:xfrm>
            <a:off x="1188720" y="3392424"/>
            <a:ext cx="46634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3F3F3F"/>
                </a:solidFill>
                <a:latin typeface="Calibri"/>
              </a:rPr>
              <a:t>Scale is code-complete and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unbenchmarked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: no multi-replica run has been timed in a cluster.</a:t>
            </a:r>
          </a:p>
        </p:txBody>
      </p:sp>
      <p:sp>
        <p:nvSpPr>
          <p:cNvPr id="941" name="Rounded Rectangle 940"/>
          <p:cNvSpPr/>
          <p:nvPr/>
        </p:nvSpPr>
        <p:spPr>
          <a:xfrm>
            <a:off x="566928" y="3931920"/>
            <a:ext cx="5413248" cy="548640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2" name="Rounded Rectangle 941"/>
          <p:cNvSpPr/>
          <p:nvPr/>
        </p:nvSpPr>
        <p:spPr>
          <a:xfrm>
            <a:off x="658368" y="4023359"/>
            <a:ext cx="420624" cy="365759"/>
          </a:xfrm>
          <a:prstGeom prst="roundRect">
            <a:avLst>
              <a:gd name="adj" fmla="val 1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L5</a:t>
            </a:r>
          </a:p>
        </p:txBody>
      </p:sp>
      <p:sp>
        <p:nvSpPr>
          <p:cNvPr id="943" name="TextBox 942"/>
          <p:cNvSpPr txBox="1"/>
          <p:nvPr/>
        </p:nvSpPr>
        <p:spPr>
          <a:xfrm>
            <a:off x="1188720" y="4005072"/>
            <a:ext cx="46634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0">
                <a:solidFill>
                  <a:srgbClr val="3F3F3F"/>
                </a:solidFill>
                <a:latin typeface="Calibri"/>
              </a:rPr>
              <a:t>The agent layer's answers are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unmeasured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— the runner is hardened and tested; groundedness is not scored.</a:t>
            </a:r>
          </a:p>
        </p:txBody>
      </p:sp>
      <p:sp>
        <p:nvSpPr>
          <p:cNvPr id="944" name="Rounded Rectangle 943"/>
          <p:cNvSpPr/>
          <p:nvPr/>
        </p:nvSpPr>
        <p:spPr>
          <a:xfrm>
            <a:off x="566928" y="4544568"/>
            <a:ext cx="5413248" cy="713232"/>
          </a:xfrm>
          <a:prstGeom prst="roundRect">
            <a:avLst>
              <a:gd name="adj" fmla="val 4500"/>
            </a:avLst>
          </a:prstGeom>
          <a:solidFill>
            <a:srgbClr val="F4F8FC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5" name="Rounded Rectangle 944"/>
          <p:cNvSpPr/>
          <p:nvPr/>
        </p:nvSpPr>
        <p:spPr>
          <a:xfrm>
            <a:off x="658368" y="4636007"/>
            <a:ext cx="420624" cy="530352"/>
          </a:xfrm>
          <a:prstGeom prst="roundRect">
            <a:avLst>
              <a:gd name="adj" fmla="val 1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L6</a:t>
            </a:r>
          </a:p>
        </p:txBody>
      </p:sp>
      <p:sp>
        <p:nvSpPr>
          <p:cNvPr id="946" name="TextBox 945"/>
          <p:cNvSpPr txBox="1"/>
          <p:nvPr/>
        </p:nvSpPr>
        <p:spPr>
          <a:xfrm>
            <a:off x="1188720" y="4617720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 b="1">
                <a:solidFill>
                  <a:srgbClr val="3F3F3F"/>
                </a:solidFill>
                <a:latin typeface="Calibri"/>
              </a:rPr>
              <a:t>Labelling accuracy is out of scope.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 The sampler and scorer ship; the gold file holds </a:t>
            </a:r>
            <a:r>
              <a:rPr sz="1050" i="0" b="1">
                <a:solidFill>
                  <a:srgbClr val="3F3F3F"/>
                </a:solidFill>
                <a:latin typeface="Calibri"/>
              </a:rPr>
              <a:t>zero adjudicated labels</a:t>
            </a:r>
            <a:r>
              <a:rPr sz="1050" i="0" b="0">
                <a:solidFill>
                  <a:srgbClr val="3F3F3F"/>
                </a:solidFill>
                <a:latin typeface="Calibri"/>
              </a:rPr>
              <a:t>, deliberately — labels seeded from a model in this repository would measure its agreement with itself.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6272784" y="1170432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i="0" b="1">
                <a:solidFill>
                  <a:srgbClr val="1F497D"/>
                </a:solidFill>
                <a:latin typeface="Calibri"/>
              </a:rPr>
              <a:t>Future work, ordered by value per unit of effort</a:t>
            </a:r>
          </a:p>
        </p:txBody>
      </p:sp>
      <p:sp>
        <p:nvSpPr>
          <p:cNvPr id="948" name="Rounded Rectangle 947"/>
          <p:cNvSpPr/>
          <p:nvPr/>
        </p:nvSpPr>
        <p:spPr>
          <a:xfrm>
            <a:off x="6272784" y="1481328"/>
            <a:ext cx="5349240" cy="566928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9" name="Rounded Rectangle 948"/>
          <p:cNvSpPr/>
          <p:nvPr/>
        </p:nvSpPr>
        <p:spPr>
          <a:xfrm>
            <a:off x="6364224" y="1572768"/>
            <a:ext cx="420624" cy="384048"/>
          </a:xfrm>
          <a:prstGeom prst="roundRect">
            <a:avLst>
              <a:gd name="adj" fmla="val 18000"/>
            </a:avLst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6894576" y="1554480"/>
            <a:ext cx="459943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3F3F3F"/>
                </a:solidFill>
                <a:latin typeface="Calibri"/>
              </a:rPr>
              <a:t>Adjudicate the gold set</a:t>
            </a:r>
            <a:r>
              <a:rPr sz="1000" i="0" b="0">
                <a:solidFill>
                  <a:srgbClr val="3F3F3F"/>
                </a:solidFill>
                <a:latin typeface="Calibri"/>
              </a:rPr>
              <a:t> — the bottleneck; everything else is fast. Two annotators, a 500-comment overlap and Cohen's κ, then 2–3 k comments stratified by bucket and kind.</a:t>
            </a:r>
          </a:p>
        </p:txBody>
      </p:sp>
      <p:sp>
        <p:nvSpPr>
          <p:cNvPr id="951" name="Rounded Rectangle 950"/>
          <p:cNvSpPr/>
          <p:nvPr/>
        </p:nvSpPr>
        <p:spPr>
          <a:xfrm>
            <a:off x="6272784" y="2103120"/>
            <a:ext cx="5349240" cy="566928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2" name="Rounded Rectangle 951"/>
          <p:cNvSpPr/>
          <p:nvPr/>
        </p:nvSpPr>
        <p:spPr>
          <a:xfrm>
            <a:off x="6364224" y="2194560"/>
            <a:ext cx="420624" cy="384048"/>
          </a:xfrm>
          <a:prstGeom prst="roundRect">
            <a:avLst>
              <a:gd name="adj" fmla="val 18000"/>
            </a:avLst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F2</a:t>
            </a:r>
          </a:p>
        </p:txBody>
      </p:sp>
      <p:sp>
        <p:nvSpPr>
          <p:cNvPr id="953" name="TextBox 952"/>
          <p:cNvSpPr txBox="1"/>
          <p:nvPr/>
        </p:nvSpPr>
        <p:spPr>
          <a:xfrm>
            <a:off x="6894576" y="2176272"/>
            <a:ext cx="459943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3F3F3F"/>
                </a:solidFill>
                <a:latin typeface="Calibri"/>
              </a:rPr>
              <a:t>Benchmark rather than build</a:t>
            </a:r>
            <a:r>
              <a:rPr sz="1000" i="0" b="0">
                <a:solidFill>
                  <a:srgbClr val="3F3F3F"/>
                </a:solidFill>
                <a:latin typeface="Calibri"/>
              </a:rPr>
              <a:t> — score the seven heads, the LLM stance pass and the Stage-1 baseline, reporting macro-F1 </a:t>
            </a:r>
            <a:r>
              <a:rPr sz="1000" i="0" b="1">
                <a:solidFill>
                  <a:srgbClr val="3F3F3F"/>
                </a:solidFill>
                <a:latin typeface="Calibri"/>
              </a:rPr>
              <a:t>per language bucket</a:t>
            </a:r>
            <a:r>
              <a:rPr sz="1000" i="0" b="0">
                <a:solidFill>
                  <a:srgbClr val="3F3F3F"/>
                </a:solidFill>
                <a:latin typeface="Calibri"/>
              </a:rPr>
              <a:t>.</a:t>
            </a:r>
          </a:p>
        </p:txBody>
      </p:sp>
      <p:sp>
        <p:nvSpPr>
          <p:cNvPr id="954" name="Rounded Rectangle 953"/>
          <p:cNvSpPr/>
          <p:nvPr/>
        </p:nvSpPr>
        <p:spPr>
          <a:xfrm>
            <a:off x="6272784" y="2724911"/>
            <a:ext cx="5349240" cy="512064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5" name="Rounded Rectangle 954"/>
          <p:cNvSpPr/>
          <p:nvPr/>
        </p:nvSpPr>
        <p:spPr>
          <a:xfrm>
            <a:off x="6364224" y="2816351"/>
            <a:ext cx="420624" cy="329184"/>
          </a:xfrm>
          <a:prstGeom prst="roundRect">
            <a:avLst>
              <a:gd name="adj" fmla="val 18000"/>
            </a:avLst>
          </a:prstGeom>
          <a:solidFill>
            <a:srgbClr val="215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F3</a:t>
            </a:r>
          </a:p>
        </p:txBody>
      </p:sp>
      <p:sp>
        <p:nvSpPr>
          <p:cNvPr id="956" name="TextBox 955"/>
          <p:cNvSpPr txBox="1"/>
          <p:nvPr/>
        </p:nvSpPr>
        <p:spPr>
          <a:xfrm>
            <a:off x="6894576" y="2798063"/>
            <a:ext cx="459943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3F3F3F"/>
                </a:solidFill>
                <a:latin typeface="Calibri"/>
              </a:rPr>
              <a:t>Turn the cascade into a measured trade-off</a:t>
            </a:r>
            <a:r>
              <a:rPr sz="1000" i="0" b="0">
                <a:solidFill>
                  <a:srgbClr val="3F3F3F"/>
                </a:solidFill>
                <a:latin typeface="Calibri"/>
              </a:rPr>
              <a:t> — sweep the confidence threshold, and plot the </a:t>
            </a:r>
            <a:r>
              <a:rPr sz="1000" i="0" b="1">
                <a:solidFill>
                  <a:srgbClr val="3F3F3F"/>
                </a:solidFill>
                <a:latin typeface="Calibri"/>
              </a:rPr>
              <a:t>comment-cap lever as a second curve</a:t>
            </a:r>
            <a:r>
              <a:rPr sz="1000" i="0" b="0">
                <a:solidFill>
                  <a:srgbClr val="3F3F3F"/>
                </a:solidFill>
                <a:latin typeface="Calibri"/>
              </a:rPr>
              <a:t>.</a:t>
            </a:r>
          </a:p>
        </p:txBody>
      </p:sp>
      <p:sp>
        <p:nvSpPr>
          <p:cNvPr id="957" name="Rounded Rectangle 956"/>
          <p:cNvSpPr/>
          <p:nvPr/>
        </p:nvSpPr>
        <p:spPr>
          <a:xfrm>
            <a:off x="6272784" y="3291839"/>
            <a:ext cx="5349240" cy="512064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8" name="Rounded Rectangle 957"/>
          <p:cNvSpPr/>
          <p:nvPr/>
        </p:nvSpPr>
        <p:spPr>
          <a:xfrm>
            <a:off x="6364224" y="3383279"/>
            <a:ext cx="420624" cy="329184"/>
          </a:xfrm>
          <a:prstGeom prst="roundRect">
            <a:avLst>
              <a:gd name="adj" fmla="val 18000"/>
            </a:avLst>
          </a:prstGeom>
          <a:solidFill>
            <a:srgbClr val="215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F4</a:t>
            </a:r>
          </a:p>
        </p:txBody>
      </p:sp>
      <p:sp>
        <p:nvSpPr>
          <p:cNvPr id="959" name="TextBox 958"/>
          <p:cNvSpPr txBox="1"/>
          <p:nvPr/>
        </p:nvSpPr>
        <p:spPr>
          <a:xfrm>
            <a:off x="6894576" y="3364991"/>
            <a:ext cx="459943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3F3F3F"/>
                </a:solidFill>
                <a:latin typeface="Calibri"/>
              </a:rPr>
              <a:t>Validate the watchlist separately</a:t>
            </a:r>
            <a:r>
              <a:rPr sz="1000" i="0" b="0">
                <a:solidFill>
                  <a:srgbClr val="3F3F3F"/>
                </a:solidFill>
                <a:latin typeface="Calibri"/>
              </a:rPr>
              <a:t> — mention detection (recall matters: a missed alias is invisible) apart from stance agreement.</a:t>
            </a:r>
          </a:p>
        </p:txBody>
      </p:sp>
      <p:sp>
        <p:nvSpPr>
          <p:cNvPr id="960" name="Rounded Rectangle 959"/>
          <p:cNvSpPr/>
          <p:nvPr/>
        </p:nvSpPr>
        <p:spPr>
          <a:xfrm>
            <a:off x="6272784" y="3858768"/>
            <a:ext cx="5349240" cy="512064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1" name="Rounded Rectangle 960"/>
          <p:cNvSpPr/>
          <p:nvPr/>
        </p:nvSpPr>
        <p:spPr>
          <a:xfrm>
            <a:off x="6364224" y="3950207"/>
            <a:ext cx="420624" cy="329184"/>
          </a:xfrm>
          <a:prstGeom prst="roundRect">
            <a:avLst>
              <a:gd name="adj" fmla="val 18000"/>
            </a:avLst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F5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6894576" y="3931920"/>
            <a:ext cx="459943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3F3F3F"/>
                </a:solidFill>
                <a:latin typeface="Calibri"/>
              </a:rPr>
              <a:t>Learn the routing decision</a:t>
            </a:r>
            <a:r>
              <a:rPr sz="1000" i="0" b="0">
                <a:solidFill>
                  <a:srgbClr val="3F3F3F"/>
                </a:solidFill>
                <a:latin typeface="Calibri"/>
              </a:rPr>
              <a:t> instead of hand-tuning it [31] — possible only after F1.</a:t>
            </a:r>
          </a:p>
        </p:txBody>
      </p:sp>
      <p:sp>
        <p:nvSpPr>
          <p:cNvPr id="963" name="Rounded Rectangle 962"/>
          <p:cNvSpPr/>
          <p:nvPr/>
        </p:nvSpPr>
        <p:spPr>
          <a:xfrm>
            <a:off x="6272784" y="4425696"/>
            <a:ext cx="5349240" cy="512064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4" name="Rounded Rectangle 963"/>
          <p:cNvSpPr/>
          <p:nvPr/>
        </p:nvSpPr>
        <p:spPr>
          <a:xfrm>
            <a:off x="6364224" y="4517136"/>
            <a:ext cx="420624" cy="329184"/>
          </a:xfrm>
          <a:prstGeom prst="roundRect">
            <a:avLst>
              <a:gd name="adj" fmla="val 18000"/>
            </a:avLst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F6</a:t>
            </a:r>
          </a:p>
        </p:txBody>
      </p:sp>
      <p:sp>
        <p:nvSpPr>
          <p:cNvPr id="965" name="TextBox 964"/>
          <p:cNvSpPr txBox="1"/>
          <p:nvPr/>
        </p:nvSpPr>
        <p:spPr>
          <a:xfrm>
            <a:off x="6894576" y="4498848"/>
            <a:ext cx="459943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3F3F3F"/>
                </a:solidFill>
                <a:latin typeface="Calibri"/>
              </a:rPr>
              <a:t>Make the image modality real, or delete its weight.</a:t>
            </a:r>
            <a:r>
              <a:rPr sz="1000" i="0" b="0">
                <a:solidFill>
                  <a:srgbClr val="3F3F3F"/>
                </a:solidFill>
                <a:latin typeface="Calibri"/>
              </a:rPr>
              <a:t> A weight that has never been anything but zero is not defensible.</a:t>
            </a:r>
          </a:p>
        </p:txBody>
      </p:sp>
      <p:sp>
        <p:nvSpPr>
          <p:cNvPr id="966" name="Rounded Rectangle 965"/>
          <p:cNvSpPr/>
          <p:nvPr/>
        </p:nvSpPr>
        <p:spPr>
          <a:xfrm>
            <a:off x="6272784" y="4992624"/>
            <a:ext cx="5349240" cy="512064"/>
          </a:xfrm>
          <a:prstGeom prst="roundRect">
            <a:avLst>
              <a:gd name="adj" fmla="val 45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7" name="Rounded Rectangle 966"/>
          <p:cNvSpPr/>
          <p:nvPr/>
        </p:nvSpPr>
        <p:spPr>
          <a:xfrm>
            <a:off x="6364224" y="5084064"/>
            <a:ext cx="420624" cy="329184"/>
          </a:xfrm>
          <a:prstGeom prst="roundRect">
            <a:avLst>
              <a:gd name="adj" fmla="val 18000"/>
            </a:avLst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i="0" b="1">
                <a:solidFill>
                  <a:srgbClr val="FFFFFF"/>
                </a:solidFill>
                <a:latin typeface="Calibri"/>
              </a:rPr>
              <a:t>F7</a:t>
            </a:r>
          </a:p>
        </p:txBody>
      </p:sp>
      <p:sp>
        <p:nvSpPr>
          <p:cNvPr id="968" name="TextBox 967"/>
          <p:cNvSpPr txBox="1"/>
          <p:nvPr/>
        </p:nvSpPr>
        <p:spPr>
          <a:xfrm>
            <a:off x="6894576" y="5065776"/>
            <a:ext cx="459943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 b="1">
                <a:solidFill>
                  <a:srgbClr val="3F3F3F"/>
                </a:solidFill>
                <a:latin typeface="Calibri"/>
              </a:rPr>
              <a:t>Score the agent layer</a:t>
            </a:r>
            <a:r>
              <a:rPr sz="1000" i="0" b="0">
                <a:solidFill>
                  <a:srgbClr val="3F3F3F"/>
                </a:solidFill>
                <a:latin typeface="Calibri"/>
              </a:rPr>
              <a:t> — groundedness, citation accuracy, answer relevance and tool-use correctness [44]–[47].</a:t>
            </a:r>
          </a:p>
        </p:txBody>
      </p:sp>
      <p:sp>
        <p:nvSpPr>
          <p:cNvPr id="969" name="TextBox 968"/>
          <p:cNvSpPr txBox="1"/>
          <p:nvPr/>
        </p:nvSpPr>
        <p:spPr>
          <a:xfrm>
            <a:off x="566928" y="554126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i="0" b="0">
                <a:solidFill>
                  <a:srgbClr val="1F497D"/>
                </a:solidFill>
                <a:latin typeface="Calibri"/>
              </a:rPr>
              <a:t>F1 – F4 would take the project from a demonstrable engineering result to a defensible empirical one — an estimated </a:t>
            </a:r>
            <a:r>
              <a:rPr sz="1150" i="0" b="1">
                <a:solidFill>
                  <a:srgbClr val="1F497D"/>
                </a:solidFill>
                <a:latin typeface="Calibri"/>
              </a:rPr>
              <a:t>three to four weeks, dominated almost entirely by annotation.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 i="0" b="1">
                <a:solidFill>
                  <a:srgbClr val="1F497D"/>
                </a:solidFill>
                <a:latin typeface="Calibri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78408"/>
            <a:ext cx="786384" cy="6583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8176" y="978408"/>
            <a:ext cx="347472" cy="65836"/>
          </a:xfrm>
          <a:prstGeom prst="rect">
            <a:avLst/>
          </a:prstGeom>
          <a:solidFill>
            <a:srgbClr val="318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4896" y="420624"/>
            <a:ext cx="2167128" cy="420624"/>
          </a:xfrm>
          <a:prstGeom prst="roundRect">
            <a:avLst>
              <a:gd name="adj" fmla="val 28000"/>
            </a:avLst>
          </a:prstGeom>
          <a:solidFill>
            <a:srgbClr val="EAF1F9"/>
          </a:solidFill>
          <a:ln w="9525">
            <a:solidFill>
              <a:srgbClr val="C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i="0" b="1">
                <a:solidFill>
                  <a:srgbClr val="1F497D"/>
                </a:solidFill>
                <a:latin typeface="Calibri"/>
              </a:rPr>
              <a:t>IEEE style</a:t>
            </a:r>
          </a:p>
        </p:txBody>
      </p:sp>
      <p:sp>
        <p:nvSpPr>
          <p:cNvPr id="928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29" name="TextBox 928"/>
          <p:cNvSpPr txBox="1"/>
          <p:nvPr/>
        </p:nvSpPr>
        <p:spPr>
          <a:xfrm>
            <a:off x="566928" y="1188720"/>
            <a:ext cx="5413248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[1]  A. Bhattacharjee et al., “BanglaBERT: Language model pretraining and benchmarks for low-resource language understanding evaluation in Bangla,” in </a:t>
            </a:r>
            <a:r>
              <a:rPr sz="950" i="1" b="0">
                <a:solidFill>
                  <a:srgbClr val="3F3F3F"/>
                </a:solidFill>
                <a:latin typeface="Calibri"/>
              </a:rPr>
              <a:t>Findings of the ACL: NAACL 2022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, 2022, pp. 1318–1327.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[2]  K. I. Islam, S. Kar, M. S. Islam, and M. R. Amin, “SentNoB: A dataset for analysing sentiment on noisy Bangla texts,” in </a:t>
            </a:r>
            <a:r>
              <a:rPr sz="950" i="1" b="0">
                <a:solidFill>
                  <a:srgbClr val="3F3F3F"/>
                </a:solidFill>
                <a:latin typeface="Calibri"/>
              </a:rPr>
              <a:t>Findings of the ACL: EMNLP 2021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, 2021, pp. 3265–3271.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[4]  S. Sazzed, “Abusive content detection in transliterated Bengali-English social media corpus,” in </a:t>
            </a:r>
            <a:r>
              <a:rPr sz="950" i="1" b="0">
                <a:solidFill>
                  <a:srgbClr val="3F3F3F"/>
                </a:solidFill>
                <a:latin typeface="Calibri"/>
              </a:rPr>
              <a:t>Proc. 5th Workshop on Computational Approaches to Linguistic Code-Switching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, 2021, pp. 125–130.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[6]  M. A. Nezami and M. N. Huda, “Public sentiment identification in social media for code-mixed English-Bangla and Banglish text analysis with machine learning,” in </a:t>
            </a:r>
            <a:r>
              <a:rPr sz="950" i="1" b="0">
                <a:solidFill>
                  <a:srgbClr val="3F3F3F"/>
                </a:solidFill>
                <a:latin typeface="Calibri"/>
              </a:rPr>
              <a:t>Proc. IVPAI 2024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, SPIE, 2024.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[9]  F. Alam et al., “A review of Bangla natural language processing tasks and the utility of transformer models,” arXiv:2107.03844, 2021.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[10]  P. Patwa et al., “SemEval-2020 Task 9: Overview of sentiment analysis of code-mixed tweets,” in </a:t>
            </a:r>
            <a:r>
              <a:rPr sz="950" i="1" b="0">
                <a:solidFill>
                  <a:srgbClr val="3F3F3F"/>
                </a:solidFill>
                <a:latin typeface="Calibri"/>
              </a:rPr>
              <a:t>Proc. 14th Workshop on Semantic Evaluation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, 2020, pp. 774–790.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[13]  D. Küçük and F. Can, “Stance detection: A survey,” </a:t>
            </a:r>
            <a:r>
              <a:rPr sz="950" i="1" b="0">
                <a:solidFill>
                  <a:srgbClr val="3F3F3F"/>
                </a:solidFill>
                <a:latin typeface="Calibri"/>
              </a:rPr>
              <a:t>ACM Computing Surveys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, vol. 53, no. 1, pp. 1–37, 2021.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[17]  P. Kralj Novak, J. Smailović, B. Sluban, and I. Mozetič, “Sentiment of emojis,” </a:t>
            </a:r>
            <a:r>
              <a:rPr sz="950" i="1" b="0">
                <a:solidFill>
                  <a:srgbClr val="3F3F3F"/>
                </a:solidFill>
                <a:latin typeface="Calibri"/>
              </a:rPr>
              <a:t>PLOS ONE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, vol. 10, no. 12, e0144296, 2015.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[22]  N. Reimers and I. Gurevych, “Sentence-BERT: Sentence embeddings using Siamese BERT-networks,” in </a:t>
            </a:r>
            <a:r>
              <a:rPr sz="950" i="1" b="0">
                <a:solidFill>
                  <a:srgbClr val="3F3F3F"/>
                </a:solidFill>
                <a:latin typeface="Calibri"/>
              </a:rPr>
              <a:t>Proc. EMNLP-IJCNLP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, 2019, pp. 3980–3990.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[30]  L. Chen, M. Zaharia, and J. Zou, “FrugalGPT: How to use large language models while reducing cost and improving performance,” arXiv:2305.05176, 2023.</a:t>
            </a:r>
          </a:p>
        </p:txBody>
      </p:sp>
      <p:sp>
        <p:nvSpPr>
          <p:cNvPr id="930" name="TextBox 929"/>
          <p:cNvSpPr txBox="1"/>
          <p:nvPr/>
        </p:nvSpPr>
        <p:spPr>
          <a:xfrm>
            <a:off x="6208776" y="1188720"/>
            <a:ext cx="5413248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[31]  I. Ong et al., “RouteLLM: Learning to route LLMs with preference data,” arXiv:2406.18665, 2024.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[32]  D. Ding et al., “Hybrid LLM: Cost-efficient and quality-aware query routing,” arXiv:2404.14618, 2024.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[34]  P. Lewis et al., “Retrieval-augmented generation for knowledge-intensive NLP tasks,” arXiv:2005.11401, 2020.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[36]  S. Yao et al., “ReAct: Synergizing reasoning and acting in language models,” arXiv:2210.03629, 2022.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[38]  X. Hou, Y. Zhao, S. Wang, and H. Wang, “Model Context Protocol (MCP): Landscape, security threats, and future research directions,” arXiv:2503.23278, 2025.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[39]  G. V. Cormack, C. L. A. Clarke, and S. Büttcher, “Reciprocal rank fusion outperforms Condorcet and individual rank learning methods,” in </a:t>
            </a:r>
            <a:r>
              <a:rPr sz="950" i="1" b="0">
                <a:solidFill>
                  <a:srgbClr val="3F3F3F"/>
                </a:solidFill>
                <a:latin typeface="Calibri"/>
              </a:rPr>
              <a:t>Proc. SIGIR ’09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, 2009, pp. 758–759.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[41]  K. Järvelin and J. Kekäläinen, “Cumulated gain-based evaluation of IR techniques,” </a:t>
            </a:r>
            <a:r>
              <a:rPr sz="950" i="1" b="0">
                <a:solidFill>
                  <a:srgbClr val="3F3F3F"/>
                </a:solidFill>
                <a:latin typeface="Calibri"/>
              </a:rPr>
              <a:t>ACM TOIS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, vol. 20, no. 4, pp. 422–446, 2002.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[43]  K. Greshake et al., “Not what you've signed up for: Compromising real-world LLM-integrated applications with indirect prompt injection,” in </a:t>
            </a:r>
            <a:r>
              <a:rPr sz="950" i="1" b="0">
                <a:solidFill>
                  <a:srgbClr val="3F3F3F"/>
                </a:solidFill>
                <a:latin typeface="Calibri"/>
              </a:rPr>
              <a:t>Proc. AISec ’23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, 2023, pp. 79–90.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[44]  L. Zheng et al., “Judging LLM-as-a-judge with MT-Bench and Chatbot Arena,” arXiv:2306.05685, 2023.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[46]  S. Es, J. James, L. Espinosa-Anke, and S. Schockaert, “RAGAS: Automated evaluation of retrieval augmented generation,” arXiv:2309.15217, 2023.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950" i="0" b="0">
                <a:solidFill>
                  <a:srgbClr val="3F3F3F"/>
                </a:solidFill>
                <a:latin typeface="Calibri"/>
              </a:rPr>
              <a:t>[50]  T. G. Dietterich, “Ensemble methods in machine learning,” in </a:t>
            </a:r>
            <a:r>
              <a:rPr sz="950" i="1" b="0">
                <a:solidFill>
                  <a:srgbClr val="3F3F3F"/>
                </a:solidFill>
                <a:latin typeface="Calibri"/>
              </a:rPr>
              <a:t>Multiple Classifier Systems</a:t>
            </a:r>
            <a:r>
              <a:rPr sz="950" i="0" b="0">
                <a:solidFill>
                  <a:srgbClr val="3F3F3F"/>
                </a:solidFill>
                <a:latin typeface="Calibri"/>
              </a:rPr>
              <a:t>, LNCS vol. 1857. Springer, 2000, pp. 1–15.</a:t>
            </a:r>
          </a:p>
        </p:txBody>
      </p:sp>
      <p:sp>
        <p:nvSpPr>
          <p:cNvPr id="931" name="Rounded Rectangle 930"/>
          <p:cNvSpPr/>
          <p:nvPr/>
        </p:nvSpPr>
        <p:spPr>
          <a:xfrm>
            <a:off x="566928" y="5212080"/>
            <a:ext cx="11055096" cy="548640"/>
          </a:xfrm>
          <a:prstGeom prst="roundRect">
            <a:avLst>
              <a:gd name="adj" fmla="val 45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 b="0">
                <a:solidFill>
                  <a:srgbClr val="FFFFFF"/>
                </a:solidFill>
                <a:latin typeface="Calibri"/>
              </a:rPr>
              <a:t>The full reference list carries </a:t>
            </a:r>
            <a:r>
              <a:rPr sz="1150" i="0" b="1">
                <a:solidFill>
                  <a:srgbClr val="FFFFFF"/>
                </a:solidFill>
                <a:latin typeface="Calibri"/>
              </a:rPr>
              <a:t>50 sources</a:t>
            </a:r>
            <a:r>
              <a:rPr sz="1150" i="0" b="0">
                <a:solidFill>
                  <a:srgbClr val="FFFFFF"/>
                </a:solidFill>
                <a:latin typeface="Calibri"/>
              </a:rPr>
              <a:t> in IEEE format; the twenty-one above are the ones this presentation cites directly.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9052560" cy="640080"/>
          </a:xfrm>
        </p:spPr>
        <p:txBody>
          <a:bodyPr wrap="square" lIns="0" rIns="0" anchor="ctr"/>
          <a:lstStyle/>
          <a:p>
            <a:pPr algn="l"/>
            <a:r>
              <a:rPr sz="2600">
                <a:latin typeface="Calibri"/>
              </a:rPr>
              <a:t> </a:t>
            </a:r>
          </a:p>
        </p:txBody>
      </p:sp>
      <p:sp>
        <p:nvSpPr>
          <p:cNvPr id="929" name="Slide Number Placeholder 4"/>
          <p:cNvSpPr>
            <a:spLocks noGrp="1"/>
          </p:cNvSpPr>
          <p:nvPr>
            <p:ph type="sldNum" sz="quarter" idx="16"/>
          </p:nvPr>
        </p:nvSpPr>
        <p:spPr>
          <a:xfrm>
            <a:off x="10442448" y="6373368"/>
            <a:ext cx="1179576" cy="292608"/>
          </a:xfrm>
        </p:spPr>
        <p:txBody>
          <a:bodyPr/>
          <a:lstStyle>
            <a:lvl1pPr>
              <a:defRPr/>
            </a:lvl1pPr>
          </a:lstStyle>
          <a:p>
            <a:pPr algn="r">
              <a:defRPr sz="1100">
                <a:solidFill>
                  <a:srgbClr val="76808C"/>
                </a:solidFill>
                <a:latin typeface="Calibri"/>
              </a:defRPr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30" name="TextBox 929"/>
          <p:cNvSpPr txBox="1"/>
          <p:nvPr/>
        </p:nvSpPr>
        <p:spPr>
          <a:xfrm>
            <a:off x="566928" y="2048256"/>
            <a:ext cx="11055096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5400" i="0" b="1">
                <a:solidFill>
                  <a:srgbClr val="1F497D"/>
                </a:solidFill>
                <a:latin typeface="Calibri"/>
              </a:rPr>
              <a:t>Thank you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i="0" b="0">
                <a:solidFill>
                  <a:srgbClr val="215968"/>
                </a:solidFill>
                <a:latin typeface="Calibri"/>
              </a:rPr>
              <a:t>Questions and discussion</a:t>
            </a:r>
          </a:p>
        </p:txBody>
      </p:sp>
      <p:sp>
        <p:nvSpPr>
          <p:cNvPr id="931" name="Rectangle 930"/>
          <p:cNvSpPr/>
          <p:nvPr/>
        </p:nvSpPr>
        <p:spPr>
          <a:xfrm>
            <a:off x="5413248" y="3547872"/>
            <a:ext cx="1371600" cy="6858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2" name="TextBox 931"/>
          <p:cNvSpPr txBox="1"/>
          <p:nvPr/>
        </p:nvSpPr>
        <p:spPr>
          <a:xfrm>
            <a:off x="566928" y="3822191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i="0" b="0">
                <a:solidFill>
                  <a:srgbClr val="3F3F3F"/>
                </a:solidFill>
                <a:latin typeface="Calibri"/>
              </a:rPr>
              <a:t>Bishwajit Kumar Chakraborty  ·  ID 0242220005101414  ·  Department of CSE, Daffodil International University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i="0" b="0">
                <a:solidFill>
                  <a:srgbClr val="76808C"/>
                </a:solidFill>
                <a:latin typeface="Calibri"/>
              </a:rPr>
              <a:t>Supervised by Dr. Sheak Rashed Haider Noori  ·  Co-supervised by Dr. Md Alamgir Kabir</a:t>
            </a:r>
          </a:p>
        </p:txBody>
      </p:sp>
      <p:sp>
        <p:nvSpPr>
          <p:cNvPr id="933" name="Rounded Rectangle 932"/>
          <p:cNvSpPr/>
          <p:nvPr/>
        </p:nvSpPr>
        <p:spPr>
          <a:xfrm>
            <a:off x="2331720" y="4773168"/>
            <a:ext cx="7525512" cy="822960"/>
          </a:xfrm>
          <a:prstGeom prst="roundRect">
            <a:avLst>
              <a:gd name="adj" fmla="val 4500"/>
            </a:avLst>
          </a:prstGeom>
          <a:solidFill>
            <a:srgbClr val="153054"/>
          </a:solidFill>
          <a:ln w="9525">
            <a:solidFill>
              <a:srgbClr val="1530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 b="0">
                <a:solidFill>
                  <a:srgbClr val="FFFFFF"/>
                </a:solidFill>
                <a:latin typeface="Calibri"/>
              </a:rPr>
              <a:t>“Cheap NLP filters which comments </a:t>
            </a:r>
            <a:r>
              <a:rPr sz="1250" i="0" b="1">
                <a:solidFill>
                  <a:srgbClr val="FFFFFF"/>
                </a:solidFill>
                <a:latin typeface="Calibri"/>
              </a:rPr>
              <a:t>and</a:t>
            </a:r>
            <a:r>
              <a:rPr sz="1250" i="0" b="0">
                <a:solidFill>
                  <a:srgbClr val="FFFFFF"/>
                </a:solidFill>
                <a:latin typeface="Calibri"/>
              </a:rPr>
              <a:t> which posts deserve a large model — and the system proves afterwards, from its own counters, where the money went and what produced every label.”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 Microsoft PowerPoint Presentatio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New Microsoft PowerPoint Presentation</Template>
  <TotalTime>1607</TotalTime>
  <Words>1292</Words>
  <Application>Microsoft Office PowerPoint</Application>
  <PresentationFormat>Widescreen</PresentationFormat>
  <Paragraphs>179</Paragraphs>
  <Slides>16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New Microsoft PowerPoint Presentation</vt:lpstr>
      <vt:lpstr>Title</vt:lpstr>
      <vt:lpstr>Outline</vt:lpstr>
      <vt:lpstr>Introduction</vt:lpstr>
      <vt:lpstr>Objective</vt:lpstr>
      <vt:lpstr>Background Study</vt:lpstr>
      <vt:lpstr>Gap Analysis</vt:lpstr>
      <vt:lpstr>Methodology</vt:lpstr>
      <vt:lpstr>Result and Analysis</vt:lpstr>
      <vt:lpstr>Result and Analysis</vt:lpstr>
      <vt:lpstr>Novelty of the Work</vt:lpstr>
      <vt:lpstr>Sample dataset</vt:lpstr>
      <vt:lpstr>Sample dataset and Expected output</vt:lpstr>
      <vt:lpstr>Web Interface of Image Enhancement</vt:lpstr>
      <vt:lpstr>Conclusion</vt:lpstr>
      <vt:lpstr>References</vt:lpstr>
      <vt:lpstr>PowerPoint Presentation</vt:lpstr>
    </vt:vector>
  </TitlesOfParts>
  <Company>Acer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Valued Acer Customer</dc:creator>
  <cp:lastModifiedBy>Tusher Tusher</cp:lastModifiedBy>
  <cp:revision>270</cp:revision>
  <dcterms:created xsi:type="dcterms:W3CDTF">2011-07-17T02:56:35Z</dcterms:created>
  <dcterms:modified xsi:type="dcterms:W3CDTF">2026-01-04T16:07:39Z</dcterms:modified>
</cp:coreProperties>
</file>